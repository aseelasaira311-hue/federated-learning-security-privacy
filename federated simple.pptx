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548640" y="1005840"/>
            <a:ext cx="8046720" cy="146304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Federated Learning for Privacy-Preserving AI</a:t>
            </a:r>
            <a:endParaRPr lang="en-US" sz="3600" dirty="0"/>
          </a:p>
        </p:txBody>
      </p:sp>
      <p:sp>
        <p:nvSpPr>
          <p:cNvPr id="3" name="Text 1"/>
          <p:cNvSpPr/>
          <p:nvPr/>
        </p:nvSpPr>
        <p:spPr>
          <a:xfrm>
            <a:off x="548640" y="2606040"/>
            <a:ext cx="8046720" cy="548640"/>
          </a:xfrm>
          <a:prstGeom prst="rect">
            <a:avLst/>
          </a:prstGeom>
          <a:noFill/>
          <a:ln/>
        </p:spPr>
        <p:txBody>
          <a:bodyPr wrap="square" rtlCol="0" anchor="ctr"/>
          <a:lstStyle/>
          <a:p>
            <a:pPr algn="ctr" indent="0" marL="0">
              <a:buNone/>
            </a:pPr>
            <a:r>
              <a:rPr lang="en-US" sz="1800" i="1" dirty="0">
                <a:solidFill>
                  <a:srgbClr val="CADCFC"/>
                </a:solidFill>
                <a:latin typeface="Calibri" pitchFamily="34" charset="0"/>
                <a:ea typeface="Calibri" pitchFamily="34" charset="-122"/>
                <a:cs typeface="Calibri" pitchFamily="34" charset="-120"/>
              </a:rPr>
              <a:t>A Survey on Security Challenges and Cryptographic Solutions</a:t>
            </a:r>
            <a:endParaRPr lang="en-US" sz="1800" dirty="0"/>
          </a:p>
        </p:txBody>
      </p:sp>
      <p:sp>
        <p:nvSpPr>
          <p:cNvPr id="4" name="Shape 2"/>
          <p:cNvSpPr/>
          <p:nvPr/>
        </p:nvSpPr>
        <p:spPr>
          <a:xfrm>
            <a:off x="1828800" y="3246120"/>
            <a:ext cx="5486400" cy="0"/>
          </a:xfrm>
          <a:prstGeom prst="line">
            <a:avLst/>
          </a:prstGeom>
          <a:noFill/>
          <a:ln w="19050">
            <a:solidFill>
              <a:srgbClr val="CADCFC"/>
            </a:solidFill>
            <a:prstDash val="solid"/>
          </a:ln>
        </p:spPr>
      </p:sp>
      <p:sp>
        <p:nvSpPr>
          <p:cNvPr id="5" name="Text 3"/>
          <p:cNvSpPr/>
          <p:nvPr/>
        </p:nvSpPr>
        <p:spPr>
          <a:xfrm>
            <a:off x="548640" y="3429000"/>
            <a:ext cx="8046720" cy="365760"/>
          </a:xfrm>
          <a:prstGeom prst="rect">
            <a:avLst/>
          </a:prstGeom>
          <a:noFill/>
          <a:ln/>
        </p:spPr>
        <p:txBody>
          <a:bodyPr wrap="square"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Cryptography and Information Security</a:t>
            </a:r>
            <a:endParaRPr lang="en-US" sz="1400" dirty="0"/>
          </a:p>
        </p:txBody>
      </p:sp>
      <p:sp>
        <p:nvSpPr>
          <p:cNvPr id="6" name="Text 4"/>
          <p:cNvSpPr/>
          <p:nvPr/>
        </p:nvSpPr>
        <p:spPr>
          <a:xfrm>
            <a:off x="548640" y="3840480"/>
            <a:ext cx="804672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Department of Cybersecurity  |  An-Najah National University  |  2025-2026</a:t>
            </a:r>
            <a:endParaRPr lang="en-US" sz="1200" dirty="0"/>
          </a:p>
        </p:txBody>
      </p:sp>
      <p:sp>
        <p:nvSpPr>
          <p:cNvPr id="7" name="Text 5"/>
          <p:cNvSpPr/>
          <p:nvPr/>
        </p:nvSpPr>
        <p:spPr>
          <a:xfrm>
            <a:off x="548640" y="4224528"/>
            <a:ext cx="804672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Aseel Asaira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274320" y="73152"/>
            <a:ext cx="859536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1. Introduction — It All Started With a Problem</a:t>
            </a:r>
            <a:endParaRPr lang="en-US" sz="2200" dirty="0"/>
          </a:p>
        </p:txBody>
      </p:sp>
      <p:sp>
        <p:nvSpPr>
          <p:cNvPr id="4" name="Text 2"/>
          <p:cNvSpPr/>
          <p:nvPr/>
        </p:nvSpPr>
        <p:spPr>
          <a:xfrm>
            <a:off x="365760" y="868680"/>
            <a:ext cx="8229600" cy="365760"/>
          </a:xfrm>
          <a:prstGeom prst="rect">
            <a:avLst/>
          </a:prstGeom>
          <a:noFill/>
          <a:ln/>
        </p:spPr>
        <p:txBody>
          <a:bodyPr wrap="square"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Why was Federated Learning created?</a:t>
            </a:r>
            <a:endParaRPr lang="en-US" sz="1600" dirty="0"/>
          </a:p>
        </p:txBody>
      </p:sp>
      <p:sp>
        <p:nvSpPr>
          <p:cNvPr id="5" name="Text 3"/>
          <p:cNvSpPr/>
          <p:nvPr/>
        </p:nvSpPr>
        <p:spPr>
          <a:xfrm>
            <a:off x="457200" y="1261872"/>
            <a:ext cx="8229600" cy="1188720"/>
          </a:xfrm>
          <a:prstGeom prst="rect">
            <a:avLst/>
          </a:prstGeom>
          <a:noFill/>
          <a:ln/>
        </p:spPr>
        <p:txBody>
          <a:bodyPr wrap="square" rtlCol="0" anchor="ctr"/>
          <a:lstStyle/>
          <a:p>
            <a:pPr marL="342900" indent="-342900">
              <a:spcAft>
                <a:spcPts val="500"/>
              </a:spcAft>
              <a:buSzPct val="100000"/>
              <a:buChar char="•"/>
            </a:pPr>
            <a:r>
              <a:rPr lang="en-US" sz="1400" dirty="0">
                <a:solidFill>
                  <a:srgbClr val="404040"/>
                </a:solidFill>
                <a:latin typeface="Calibri" pitchFamily="34" charset="0"/>
                <a:ea typeface="Calibri" pitchFamily="34" charset="-122"/>
                <a:cs typeface="Calibri" pitchFamily="34" charset="-120"/>
              </a:rPr>
              <a:t>AI models need huge amounts of data to work well</a:t>
            </a:r>
            <a:endParaRPr lang="en-US" sz="1400" dirty="0"/>
          </a:p>
          <a:p>
            <a:pPr marL="342900" indent="-342900">
              <a:spcAft>
                <a:spcPts val="500"/>
              </a:spcAft>
              <a:buSzPct val="100000"/>
              <a:buChar char="•"/>
            </a:pPr>
            <a:r>
              <a:rPr lang="en-US" sz="1400" dirty="0">
                <a:solidFill>
                  <a:srgbClr val="404040"/>
                </a:solidFill>
                <a:latin typeface="Calibri" pitchFamily="34" charset="0"/>
                <a:ea typeface="Calibri" pitchFamily="34" charset="-122"/>
                <a:cs typeface="Calibri" pitchFamily="34" charset="-120"/>
              </a:rPr>
              <a:t>But most of this data is private — like medical records or bank info</a:t>
            </a:r>
            <a:endParaRPr lang="en-US" sz="1400" dirty="0"/>
          </a:p>
          <a:p>
            <a:pPr marL="342900" indent="-342900">
              <a:spcAft>
                <a:spcPts val="500"/>
              </a:spcAft>
              <a:buSzPct val="100000"/>
              <a:buChar char="•"/>
            </a:pPr>
            <a:r>
              <a:rPr lang="en-US" sz="1400" dirty="0">
                <a:solidFill>
                  <a:srgbClr val="404040"/>
                </a:solidFill>
                <a:latin typeface="Calibri" pitchFamily="34" charset="0"/>
                <a:ea typeface="Calibri" pitchFamily="34" charset="-122"/>
                <a:cs typeface="Calibri" pitchFamily="34" charset="-120"/>
              </a:rPr>
              <a:t>Nobody wants to send their private data to a company server</a:t>
            </a:r>
            <a:endParaRPr lang="en-US" sz="1400" dirty="0"/>
          </a:p>
          <a:p>
            <a:pPr marL="342900" indent="-342900">
              <a:spcAft>
                <a:spcPts val="500"/>
              </a:spcAft>
              <a:buSzPct val="100000"/>
              <a:buChar char="•"/>
            </a:pPr>
            <a:r>
              <a:rPr lang="en-US" sz="1400" dirty="0">
                <a:solidFill>
                  <a:srgbClr val="404040"/>
                </a:solidFill>
                <a:latin typeface="Calibri" pitchFamily="34" charset="0"/>
                <a:ea typeface="Calibri" pitchFamily="34" charset="-122"/>
                <a:cs typeface="Calibri" pitchFamily="34" charset="-120"/>
              </a:rPr>
              <a:t>And in many countries its actually illegal to share this kind of data</a:t>
            </a:r>
            <a:endParaRPr lang="en-US" sz="1400" dirty="0"/>
          </a:p>
        </p:txBody>
      </p:sp>
      <p:sp>
        <p:nvSpPr>
          <p:cNvPr id="6" name="Text 4"/>
          <p:cNvSpPr/>
          <p:nvPr/>
        </p:nvSpPr>
        <p:spPr>
          <a:xfrm>
            <a:off x="365760" y="2560320"/>
            <a:ext cx="8229600" cy="365760"/>
          </a:xfrm>
          <a:prstGeom prst="rect">
            <a:avLst/>
          </a:prstGeom>
          <a:noFill/>
          <a:ln/>
        </p:spPr>
        <p:txBody>
          <a:bodyPr wrap="square" rtlCol="0" anchor="ctr"/>
          <a:lstStyle/>
          <a:p>
            <a:pPr indent="0" marL="0">
              <a:buNone/>
            </a:pPr>
            <a:r>
              <a:rPr lang="en-US" sz="1600" b="1" dirty="0">
                <a:solidFill>
                  <a:srgbClr val="2E75B6"/>
                </a:solidFill>
                <a:latin typeface="Calibri" pitchFamily="34" charset="0"/>
                <a:ea typeface="Calibri" pitchFamily="34" charset="-122"/>
                <a:cs typeface="Calibri" pitchFamily="34" charset="-120"/>
              </a:rPr>
              <a:t>The solution — Federated Learning (Google, 2017):</a:t>
            </a:r>
            <a:endParaRPr lang="en-US" sz="1600" dirty="0"/>
          </a:p>
        </p:txBody>
      </p:sp>
      <p:sp>
        <p:nvSpPr>
          <p:cNvPr id="7" name="Text 5"/>
          <p:cNvSpPr/>
          <p:nvPr/>
        </p:nvSpPr>
        <p:spPr>
          <a:xfrm>
            <a:off x="457200" y="2944368"/>
            <a:ext cx="8229600" cy="1188720"/>
          </a:xfrm>
          <a:prstGeom prst="rect">
            <a:avLst/>
          </a:prstGeom>
          <a:noFill/>
          <a:ln/>
        </p:spPr>
        <p:txBody>
          <a:bodyPr wrap="square" rtlCol="0" anchor="ctr"/>
          <a:lstStyle/>
          <a:p>
            <a:pPr marL="342900" indent="-342900">
              <a:spcAft>
                <a:spcPts val="500"/>
              </a:spcAft>
              <a:buSzPct val="100000"/>
              <a:buChar char="•"/>
            </a:pPr>
            <a:r>
              <a:rPr lang="en-US" sz="1400" dirty="0">
                <a:solidFill>
                  <a:srgbClr val="404040"/>
                </a:solidFill>
                <a:latin typeface="Calibri" pitchFamily="34" charset="0"/>
                <a:ea typeface="Calibri" pitchFamily="34" charset="-122"/>
                <a:cs typeface="Calibri" pitchFamily="34" charset="-120"/>
              </a:rPr>
              <a:t>Instead of sending data to one server, each device trains the model locally</a:t>
            </a:r>
            <a:endParaRPr lang="en-US" sz="1400" dirty="0"/>
          </a:p>
          <a:p>
            <a:pPr marL="342900" indent="-342900">
              <a:spcAft>
                <a:spcPts val="500"/>
              </a:spcAft>
              <a:buSzPct val="100000"/>
              <a:buChar char="•"/>
            </a:pPr>
            <a:r>
              <a:rPr lang="en-US" sz="1400" dirty="0">
                <a:solidFill>
                  <a:srgbClr val="404040"/>
                </a:solidFill>
                <a:latin typeface="Calibri" pitchFamily="34" charset="0"/>
                <a:ea typeface="Calibri" pitchFamily="34" charset="-122"/>
                <a:cs typeface="Calibri" pitchFamily="34" charset="-120"/>
              </a:rPr>
              <a:t>Only the model updates (called gradients) are sent to the server</a:t>
            </a:r>
            <a:endParaRPr lang="en-US" sz="1400" dirty="0"/>
          </a:p>
          <a:p>
            <a:pPr marL="342900" indent="-342900">
              <a:spcAft>
                <a:spcPts val="500"/>
              </a:spcAft>
              <a:buSzPct val="100000"/>
              <a:buChar char="•"/>
            </a:pPr>
            <a:r>
              <a:rPr lang="en-US" sz="1400" dirty="0">
                <a:solidFill>
                  <a:srgbClr val="404040"/>
                </a:solidFill>
                <a:latin typeface="Calibri" pitchFamily="34" charset="0"/>
                <a:ea typeface="Calibri" pitchFamily="34" charset="-122"/>
                <a:cs typeface="Calibri" pitchFamily="34" charset="-120"/>
              </a:rPr>
              <a:t>The server combines all updates to make a better global model</a:t>
            </a:r>
            <a:endParaRPr lang="en-US" sz="1400" dirty="0"/>
          </a:p>
          <a:p>
            <a:pPr marL="342900" indent="-342900">
              <a:spcAft>
                <a:spcPts val="500"/>
              </a:spcAft>
              <a:buSzPct val="100000"/>
              <a:buChar char="•"/>
            </a:pPr>
            <a:r>
              <a:rPr lang="en-US" sz="1400" dirty="0">
                <a:solidFill>
                  <a:srgbClr val="404040"/>
                </a:solidFill>
                <a:latin typeface="Calibri" pitchFamily="34" charset="0"/>
                <a:ea typeface="Calibri" pitchFamily="34" charset="-122"/>
                <a:cs typeface="Calibri" pitchFamily="34" charset="-120"/>
              </a:rPr>
              <a:t>The private data NEVER leaves the device — thats the whole point</a:t>
            </a:r>
            <a:endParaRPr lang="en-US" sz="1400" dirty="0"/>
          </a:p>
        </p:txBody>
      </p:sp>
      <p:sp>
        <p:nvSpPr>
          <p:cNvPr id="8" name="Text 6"/>
          <p:cNvSpPr/>
          <p:nvPr/>
        </p:nvSpPr>
        <p:spPr>
          <a:xfrm>
            <a:off x="365760" y="4297680"/>
            <a:ext cx="8412480" cy="365760"/>
          </a:xfrm>
          <a:prstGeom prst="rect">
            <a:avLst/>
          </a:prstGeom>
          <a:noFill/>
          <a:ln/>
        </p:spPr>
        <p:txBody>
          <a:bodyPr wrap="square" rtlCol="0" anchor="ctr"/>
          <a:lstStyle/>
          <a:p>
            <a:pPr indent="0" marL="0">
              <a:buNone/>
            </a:pPr>
            <a:r>
              <a:rPr lang="en-US" sz="1300" i="1" dirty="0">
                <a:solidFill>
                  <a:srgbClr val="C00000"/>
                </a:solidFill>
                <a:latin typeface="Calibri" pitchFamily="34" charset="0"/>
                <a:ea typeface="Calibri" pitchFamily="34" charset="-122"/>
                <a:cs typeface="Calibri" pitchFamily="34" charset="-120"/>
              </a:rPr>
              <a:t>But... is it really safe? (spoiler: not as much as people thought)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274320" y="73152"/>
            <a:ext cx="859536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2. Background — The Cryptographic Tools</a:t>
            </a:r>
            <a:endParaRPr lang="en-US" sz="2200" dirty="0"/>
          </a:p>
        </p:txBody>
      </p:sp>
      <p:sp>
        <p:nvSpPr>
          <p:cNvPr id="4" name="Text 2"/>
          <p:cNvSpPr/>
          <p:nvPr/>
        </p:nvSpPr>
        <p:spPr>
          <a:xfrm>
            <a:off x="365760" y="822960"/>
            <a:ext cx="8412480" cy="365760"/>
          </a:xfrm>
          <a:prstGeom prst="rect">
            <a:avLst/>
          </a:prstGeom>
          <a:noFill/>
          <a:ln/>
        </p:spPr>
        <p:txBody>
          <a:bodyPr wrap="square" rtlCol="0" anchor="ctr"/>
          <a:lstStyle/>
          <a:p>
            <a:pPr indent="0" marL="0">
              <a:buNone/>
            </a:pPr>
            <a:r>
              <a:rPr lang="en-US" sz="1400" i="1" dirty="0">
                <a:solidFill>
                  <a:srgbClr val="404040"/>
                </a:solidFill>
                <a:latin typeface="Calibri" pitchFamily="34" charset="0"/>
                <a:ea typeface="Calibri" pitchFamily="34" charset="-122"/>
                <a:cs typeface="Calibri" pitchFamily="34" charset="-120"/>
              </a:rPr>
              <a:t>Before talking about attacks, here are the main tools used to protect FL:</a:t>
            </a:r>
            <a:endParaRPr lang="en-US" sz="1400" dirty="0"/>
          </a:p>
        </p:txBody>
      </p:sp>
      <p:sp>
        <p:nvSpPr>
          <p:cNvPr id="5" name="Shape 3"/>
          <p:cNvSpPr/>
          <p:nvPr/>
        </p:nvSpPr>
        <p:spPr>
          <a:xfrm>
            <a:off x="274320" y="1280160"/>
            <a:ext cx="164592" cy="685800"/>
          </a:xfrm>
          <a:prstGeom prst="rect">
            <a:avLst/>
          </a:prstGeom>
          <a:solidFill>
            <a:srgbClr val="1F3864"/>
          </a:solidFill>
          <a:ln w="12700">
            <a:solidFill>
              <a:srgbClr val="1F3864"/>
            </a:solidFill>
            <a:prstDash val="solid"/>
          </a:ln>
        </p:spPr>
      </p:sp>
      <p:sp>
        <p:nvSpPr>
          <p:cNvPr id="6" name="Text 4"/>
          <p:cNvSpPr/>
          <p:nvPr/>
        </p:nvSpPr>
        <p:spPr>
          <a:xfrm>
            <a:off x="548640" y="1298448"/>
            <a:ext cx="8229600" cy="256032"/>
          </a:xfrm>
          <a:prstGeom prst="rect">
            <a:avLst/>
          </a:prstGeom>
          <a:noFill/>
          <a:ln/>
        </p:spPr>
        <p:txBody>
          <a:bodyPr wrap="square" lIns="0" tIns="0" rIns="0" bIns="0"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Homomorphic Encryption (HE)</a:t>
            </a:r>
            <a:endParaRPr lang="en-US" sz="1300" dirty="0"/>
          </a:p>
        </p:txBody>
      </p:sp>
      <p:sp>
        <p:nvSpPr>
          <p:cNvPr id="7" name="Text 5"/>
          <p:cNvSpPr/>
          <p:nvPr/>
        </p:nvSpPr>
        <p:spPr>
          <a:xfrm>
            <a:off x="548640" y="1572768"/>
            <a:ext cx="8321040" cy="347472"/>
          </a:xfrm>
          <a:prstGeom prst="rect">
            <a:avLst/>
          </a:prstGeom>
          <a:noFill/>
          <a:ln/>
        </p:spPr>
        <p:txBody>
          <a:bodyPr wrap="square" lIns="0" tIns="0" rIns="0" bIns="0" rtlCol="0" anchor="ctr"/>
          <a:lstStyle/>
          <a:p>
            <a:pPr indent="0" marL="0">
              <a:buNone/>
            </a:pPr>
            <a:r>
              <a:rPr lang="en-US" sz="1150" dirty="0">
                <a:solidFill>
                  <a:srgbClr val="404040"/>
                </a:solidFill>
                <a:latin typeface="Calibri" pitchFamily="34" charset="0"/>
                <a:ea typeface="Calibri" pitchFamily="34" charset="-122"/>
                <a:cs typeface="Calibri" pitchFamily="34" charset="-120"/>
              </a:rPr>
              <a:t>Lets you do calculations on encrypted data without decrypting it first. The server can add up all updates without ever seeing them. Very powerful but very slow — like 100 to 1000 times slower than normal.</a:t>
            </a:r>
            <a:endParaRPr lang="en-US" sz="1150" dirty="0"/>
          </a:p>
        </p:txBody>
      </p:sp>
      <p:sp>
        <p:nvSpPr>
          <p:cNvPr id="8" name="Shape 6"/>
          <p:cNvSpPr/>
          <p:nvPr/>
        </p:nvSpPr>
        <p:spPr>
          <a:xfrm>
            <a:off x="274320" y="2194560"/>
            <a:ext cx="164592" cy="685800"/>
          </a:xfrm>
          <a:prstGeom prst="rect">
            <a:avLst/>
          </a:prstGeom>
          <a:solidFill>
            <a:srgbClr val="2E75B6"/>
          </a:solidFill>
          <a:ln w="12700">
            <a:solidFill>
              <a:srgbClr val="2E75B6"/>
            </a:solidFill>
            <a:prstDash val="solid"/>
          </a:ln>
        </p:spPr>
      </p:sp>
      <p:sp>
        <p:nvSpPr>
          <p:cNvPr id="9" name="Text 7"/>
          <p:cNvSpPr/>
          <p:nvPr/>
        </p:nvSpPr>
        <p:spPr>
          <a:xfrm>
            <a:off x="548640" y="2212848"/>
            <a:ext cx="8229600" cy="256032"/>
          </a:xfrm>
          <a:prstGeom prst="rect">
            <a:avLst/>
          </a:prstGeom>
          <a:noFill/>
          <a:ln/>
        </p:spPr>
        <p:txBody>
          <a:bodyPr wrap="square" lIns="0" tIns="0" rIns="0" bIns="0" rtlCol="0" anchor="ctr"/>
          <a:lstStyle/>
          <a:p>
            <a:pPr indent="0" marL="0">
              <a:buNone/>
            </a:pPr>
            <a:r>
              <a:rPr lang="en-US" sz="1300" b="1" dirty="0">
                <a:solidFill>
                  <a:srgbClr val="2E75B6"/>
                </a:solidFill>
                <a:latin typeface="Calibri" pitchFamily="34" charset="0"/>
                <a:ea typeface="Calibri" pitchFamily="34" charset="-122"/>
                <a:cs typeface="Calibri" pitchFamily="34" charset="-120"/>
              </a:rPr>
              <a:t>Differential Privacy (DP)</a:t>
            </a:r>
            <a:endParaRPr lang="en-US" sz="1300" dirty="0"/>
          </a:p>
        </p:txBody>
      </p:sp>
      <p:sp>
        <p:nvSpPr>
          <p:cNvPr id="10" name="Text 8"/>
          <p:cNvSpPr/>
          <p:nvPr/>
        </p:nvSpPr>
        <p:spPr>
          <a:xfrm>
            <a:off x="548640" y="2487168"/>
            <a:ext cx="8321040" cy="347472"/>
          </a:xfrm>
          <a:prstGeom prst="rect">
            <a:avLst/>
          </a:prstGeom>
          <a:noFill/>
          <a:ln/>
        </p:spPr>
        <p:txBody>
          <a:bodyPr wrap="square" lIns="0" tIns="0" rIns="0" bIns="0" rtlCol="0" anchor="ctr"/>
          <a:lstStyle/>
          <a:p>
            <a:pPr indent="0" marL="0">
              <a:buNone/>
            </a:pPr>
            <a:r>
              <a:rPr lang="en-US" sz="1150" dirty="0">
                <a:solidFill>
                  <a:srgbClr val="404040"/>
                </a:solidFill>
                <a:latin typeface="Calibri" pitchFamily="34" charset="0"/>
                <a:ea typeface="Calibri" pitchFamily="34" charset="-122"/>
                <a:cs typeface="Calibri" pitchFamily="34" charset="-120"/>
              </a:rPr>
              <a:t>Adds random noise to the updates before sending them. This hides the private details but it also makes the model less accurate. You have to find the right balance.</a:t>
            </a:r>
            <a:endParaRPr lang="en-US" sz="1150" dirty="0"/>
          </a:p>
        </p:txBody>
      </p:sp>
      <p:sp>
        <p:nvSpPr>
          <p:cNvPr id="11" name="Shape 9"/>
          <p:cNvSpPr/>
          <p:nvPr/>
        </p:nvSpPr>
        <p:spPr>
          <a:xfrm>
            <a:off x="274320" y="3108960"/>
            <a:ext cx="164592" cy="685800"/>
          </a:xfrm>
          <a:prstGeom prst="rect">
            <a:avLst/>
          </a:prstGeom>
          <a:solidFill>
            <a:srgbClr val="1A5276"/>
          </a:solidFill>
          <a:ln w="12700">
            <a:solidFill>
              <a:srgbClr val="1A5276"/>
            </a:solidFill>
            <a:prstDash val="solid"/>
          </a:ln>
        </p:spPr>
      </p:sp>
      <p:sp>
        <p:nvSpPr>
          <p:cNvPr id="12" name="Text 10"/>
          <p:cNvSpPr/>
          <p:nvPr/>
        </p:nvSpPr>
        <p:spPr>
          <a:xfrm>
            <a:off x="548640" y="3127248"/>
            <a:ext cx="8229600" cy="256032"/>
          </a:xfrm>
          <a:prstGeom prst="rect">
            <a:avLst/>
          </a:prstGeom>
          <a:noFill/>
          <a:ln/>
        </p:spPr>
        <p:txBody>
          <a:bodyPr wrap="square" lIns="0" tIns="0" rIns="0" bIns="0" rtlCol="0" anchor="ctr"/>
          <a:lstStyle/>
          <a:p>
            <a:pPr indent="0" marL="0">
              <a:buNone/>
            </a:pPr>
            <a:r>
              <a:rPr lang="en-US" sz="1300" b="1" dirty="0">
                <a:solidFill>
                  <a:srgbClr val="1A5276"/>
                </a:solidFill>
                <a:latin typeface="Calibri" pitchFamily="34" charset="0"/>
                <a:ea typeface="Calibri" pitchFamily="34" charset="-122"/>
                <a:cs typeface="Calibri" pitchFamily="34" charset="-120"/>
              </a:rPr>
              <a:t>Secure Multi-Party Computation (SMPC)</a:t>
            </a:r>
            <a:endParaRPr lang="en-US" sz="1300" dirty="0"/>
          </a:p>
        </p:txBody>
      </p:sp>
      <p:sp>
        <p:nvSpPr>
          <p:cNvPr id="13" name="Text 11"/>
          <p:cNvSpPr/>
          <p:nvPr/>
        </p:nvSpPr>
        <p:spPr>
          <a:xfrm>
            <a:off x="548640" y="3401568"/>
            <a:ext cx="8321040" cy="347472"/>
          </a:xfrm>
          <a:prstGeom prst="rect">
            <a:avLst/>
          </a:prstGeom>
          <a:noFill/>
          <a:ln/>
        </p:spPr>
        <p:txBody>
          <a:bodyPr wrap="square" lIns="0" tIns="0" rIns="0" bIns="0" rtlCol="0" anchor="ctr"/>
          <a:lstStyle/>
          <a:p>
            <a:pPr indent="0" marL="0">
              <a:buNone/>
            </a:pPr>
            <a:r>
              <a:rPr lang="en-US" sz="1150" dirty="0">
                <a:solidFill>
                  <a:srgbClr val="404040"/>
                </a:solidFill>
                <a:latin typeface="Calibri" pitchFamily="34" charset="0"/>
                <a:ea typeface="Calibri" pitchFamily="34" charset="-122"/>
                <a:cs typeface="Calibri" pitchFamily="34" charset="-120"/>
              </a:rPr>
              <a:t>Multiple devices compute together without seeing each others input. The server only gets the final total, not each persons individual update. Needs alot of communication between devices.</a:t>
            </a:r>
            <a:endParaRPr lang="en-US" sz="1150" dirty="0"/>
          </a:p>
        </p:txBody>
      </p:sp>
      <p:sp>
        <p:nvSpPr>
          <p:cNvPr id="14" name="Shape 12"/>
          <p:cNvSpPr/>
          <p:nvPr/>
        </p:nvSpPr>
        <p:spPr>
          <a:xfrm>
            <a:off x="274320" y="4023360"/>
            <a:ext cx="164592" cy="685800"/>
          </a:xfrm>
          <a:prstGeom prst="rect">
            <a:avLst/>
          </a:prstGeom>
          <a:solidFill>
            <a:srgbClr val="154360"/>
          </a:solidFill>
          <a:ln w="12700">
            <a:solidFill>
              <a:srgbClr val="154360"/>
            </a:solidFill>
            <a:prstDash val="solid"/>
          </a:ln>
        </p:spPr>
      </p:sp>
      <p:sp>
        <p:nvSpPr>
          <p:cNvPr id="15" name="Text 13"/>
          <p:cNvSpPr/>
          <p:nvPr/>
        </p:nvSpPr>
        <p:spPr>
          <a:xfrm>
            <a:off x="548640" y="4041648"/>
            <a:ext cx="8229600" cy="256032"/>
          </a:xfrm>
          <a:prstGeom prst="rect">
            <a:avLst/>
          </a:prstGeom>
          <a:noFill/>
          <a:ln/>
        </p:spPr>
        <p:txBody>
          <a:bodyPr wrap="square" lIns="0" tIns="0" rIns="0" bIns="0" rtlCol="0" anchor="ctr"/>
          <a:lstStyle/>
          <a:p>
            <a:pPr indent="0" marL="0">
              <a:buNone/>
            </a:pPr>
            <a:r>
              <a:rPr lang="en-US" sz="1300" b="1" dirty="0">
                <a:solidFill>
                  <a:srgbClr val="154360"/>
                </a:solidFill>
                <a:latin typeface="Calibri" pitchFamily="34" charset="0"/>
                <a:ea typeface="Calibri" pitchFamily="34" charset="-122"/>
                <a:cs typeface="Calibri" pitchFamily="34" charset="-120"/>
              </a:rPr>
              <a:t>Blockchain</a:t>
            </a:r>
            <a:endParaRPr lang="en-US" sz="1300" dirty="0"/>
          </a:p>
        </p:txBody>
      </p:sp>
      <p:sp>
        <p:nvSpPr>
          <p:cNvPr id="16" name="Text 14"/>
          <p:cNvSpPr/>
          <p:nvPr/>
        </p:nvSpPr>
        <p:spPr>
          <a:xfrm>
            <a:off x="548640" y="4315968"/>
            <a:ext cx="8321040" cy="347472"/>
          </a:xfrm>
          <a:prstGeom prst="rect">
            <a:avLst/>
          </a:prstGeom>
          <a:noFill/>
          <a:ln/>
        </p:spPr>
        <p:txBody>
          <a:bodyPr wrap="square" lIns="0" tIns="0" rIns="0" bIns="0" rtlCol="0" anchor="ctr"/>
          <a:lstStyle/>
          <a:p>
            <a:pPr indent="0" marL="0">
              <a:buNone/>
            </a:pPr>
            <a:r>
              <a:rPr lang="en-US" sz="1150" dirty="0">
                <a:solidFill>
                  <a:srgbClr val="404040"/>
                </a:solidFill>
                <a:latin typeface="Calibri" pitchFamily="34" charset="0"/>
                <a:ea typeface="Calibri" pitchFamily="34" charset="-122"/>
                <a:cs typeface="Calibri" pitchFamily="34" charset="-120"/>
              </a:rPr>
              <a:t>Removes the central server completely and uses a distributed ledger instead. Nobody has to trust anyone. But its slow and uses alot of energy so not very practical yet.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8B0000"/>
          </a:solidFill>
          <a:ln w="12700">
            <a:solidFill>
              <a:srgbClr val="8B0000"/>
            </a:solidFill>
            <a:prstDash val="solid"/>
          </a:ln>
        </p:spPr>
      </p:sp>
      <p:sp>
        <p:nvSpPr>
          <p:cNvPr id="3" name="Text 1"/>
          <p:cNvSpPr/>
          <p:nvPr/>
        </p:nvSpPr>
        <p:spPr>
          <a:xfrm>
            <a:off x="274320" y="73152"/>
            <a:ext cx="859536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3. The Bad News — FL Has Serious Security Problems</a:t>
            </a:r>
            <a:endParaRPr lang="en-US" sz="2200" dirty="0"/>
          </a:p>
        </p:txBody>
      </p:sp>
      <p:sp>
        <p:nvSpPr>
          <p:cNvPr id="4" name="Text 2"/>
          <p:cNvSpPr/>
          <p:nvPr/>
        </p:nvSpPr>
        <p:spPr>
          <a:xfrm>
            <a:off x="274320" y="804672"/>
            <a:ext cx="4114800" cy="329184"/>
          </a:xfrm>
          <a:prstGeom prst="rect">
            <a:avLst/>
          </a:prstGeom>
          <a:noFill/>
          <a:ln/>
        </p:spPr>
        <p:txBody>
          <a:bodyPr wrap="square" lIns="0" tIns="0" rIns="0" bIns="0" rtlCol="0" anchor="ctr"/>
          <a:lstStyle/>
          <a:p>
            <a:pPr indent="0" marL="0">
              <a:buNone/>
            </a:pPr>
            <a:r>
              <a:rPr lang="en-US" sz="1500" b="1" dirty="0">
                <a:solidFill>
                  <a:srgbClr val="C00000"/>
                </a:solidFill>
                <a:latin typeface="Calibri" pitchFamily="34" charset="0"/>
                <a:ea typeface="Calibri" pitchFamily="34" charset="-122"/>
                <a:cs typeface="Calibri" pitchFamily="34" charset="-120"/>
              </a:rPr>
              <a:t>Attacks on the Model:</a:t>
            </a:r>
            <a:endParaRPr lang="en-US" sz="1500" dirty="0"/>
          </a:p>
        </p:txBody>
      </p:sp>
      <p:sp>
        <p:nvSpPr>
          <p:cNvPr id="5" name="Text 3"/>
          <p:cNvSpPr/>
          <p:nvPr/>
        </p:nvSpPr>
        <p:spPr>
          <a:xfrm>
            <a:off x="320040" y="1170432"/>
            <a:ext cx="4114800" cy="256032"/>
          </a:xfrm>
          <a:prstGeom prst="rect">
            <a:avLst/>
          </a:prstGeom>
          <a:noFill/>
          <a:ln/>
        </p:spPr>
        <p:txBody>
          <a:bodyPr wrap="square" lIns="0" tIns="0" rIns="0" bIns="0" rtlCol="0" anchor="ctr"/>
          <a:lstStyle/>
          <a:p>
            <a:pPr indent="0" marL="0">
              <a:buNone/>
            </a:pPr>
            <a:r>
              <a:rPr lang="en-US" sz="1200" b="1" dirty="0">
                <a:solidFill>
                  <a:srgbClr val="8B0000"/>
                </a:solidFill>
                <a:latin typeface="Calibri" pitchFamily="34" charset="0"/>
                <a:ea typeface="Calibri" pitchFamily="34" charset="-122"/>
                <a:cs typeface="Calibri" pitchFamily="34" charset="-120"/>
              </a:rPr>
              <a:t>Data Poisoning:</a:t>
            </a:r>
            <a:endParaRPr lang="en-US" sz="1200" dirty="0"/>
          </a:p>
        </p:txBody>
      </p:sp>
      <p:sp>
        <p:nvSpPr>
          <p:cNvPr id="6" name="Text 4"/>
          <p:cNvSpPr/>
          <p:nvPr/>
        </p:nvSpPr>
        <p:spPr>
          <a:xfrm>
            <a:off x="320040" y="1426464"/>
            <a:ext cx="4114800" cy="384048"/>
          </a:xfrm>
          <a:prstGeom prst="rect">
            <a:avLst/>
          </a:prstGeom>
          <a:noFill/>
          <a:ln/>
        </p:spPr>
        <p:txBody>
          <a:bodyPr wrap="square" lIns="0" tIns="0" rIns="0" bIns="0" rtlCol="0" anchor="ctr"/>
          <a:lstStyle/>
          <a:p>
            <a:pPr indent="0" marL="0">
              <a:buNone/>
            </a:pPr>
            <a:r>
              <a:rPr lang="en-US" sz="1100" dirty="0">
                <a:solidFill>
                  <a:srgbClr val="404040"/>
                </a:solidFill>
                <a:latin typeface="Calibri" pitchFamily="34" charset="0"/>
                <a:ea typeface="Calibri" pitchFamily="34" charset="-122"/>
                <a:cs typeface="Calibri" pitchFamily="34" charset="-120"/>
              </a:rPr>
              <a:t>A bad client trains on wrong data on purpose. The bad update mixes with good ones and corrupts the global model.</a:t>
            </a:r>
            <a:endParaRPr lang="en-US" sz="1100" dirty="0"/>
          </a:p>
        </p:txBody>
      </p:sp>
      <p:sp>
        <p:nvSpPr>
          <p:cNvPr id="7" name="Text 5"/>
          <p:cNvSpPr/>
          <p:nvPr/>
        </p:nvSpPr>
        <p:spPr>
          <a:xfrm>
            <a:off x="320040" y="1920240"/>
            <a:ext cx="4114800" cy="256032"/>
          </a:xfrm>
          <a:prstGeom prst="rect">
            <a:avLst/>
          </a:prstGeom>
          <a:noFill/>
          <a:ln/>
        </p:spPr>
        <p:txBody>
          <a:bodyPr wrap="square" lIns="0" tIns="0" rIns="0" bIns="0" rtlCol="0" anchor="ctr"/>
          <a:lstStyle/>
          <a:p>
            <a:pPr indent="0" marL="0">
              <a:buNone/>
            </a:pPr>
            <a:r>
              <a:rPr lang="en-US" sz="1200" b="1" dirty="0">
                <a:solidFill>
                  <a:srgbClr val="8B0000"/>
                </a:solidFill>
                <a:latin typeface="Calibri" pitchFamily="34" charset="0"/>
                <a:ea typeface="Calibri" pitchFamily="34" charset="-122"/>
                <a:cs typeface="Calibri" pitchFamily="34" charset="-120"/>
              </a:rPr>
              <a:t>Model Poisoning:</a:t>
            </a:r>
            <a:endParaRPr lang="en-US" sz="1200" dirty="0"/>
          </a:p>
        </p:txBody>
      </p:sp>
      <p:sp>
        <p:nvSpPr>
          <p:cNvPr id="8" name="Text 6"/>
          <p:cNvSpPr/>
          <p:nvPr/>
        </p:nvSpPr>
        <p:spPr>
          <a:xfrm>
            <a:off x="320040" y="2176272"/>
            <a:ext cx="4114800" cy="384048"/>
          </a:xfrm>
          <a:prstGeom prst="rect">
            <a:avLst/>
          </a:prstGeom>
          <a:noFill/>
          <a:ln/>
        </p:spPr>
        <p:txBody>
          <a:bodyPr wrap="square" lIns="0" tIns="0" rIns="0" bIns="0" rtlCol="0" anchor="ctr"/>
          <a:lstStyle/>
          <a:p>
            <a:pPr indent="0" marL="0">
              <a:buNone/>
            </a:pPr>
            <a:r>
              <a:rPr lang="en-US" sz="1100" dirty="0">
                <a:solidFill>
                  <a:srgbClr val="404040"/>
                </a:solidFill>
                <a:latin typeface="Calibri" pitchFamily="34" charset="0"/>
                <a:ea typeface="Calibri" pitchFamily="34" charset="-122"/>
                <a:cs typeface="Calibri" pitchFamily="34" charset="-120"/>
              </a:rPr>
              <a:t>The attacker changes the gradient values directly before sending. Designed to look normal but causes alot of damage inside.</a:t>
            </a:r>
            <a:endParaRPr lang="en-US" sz="1100" dirty="0"/>
          </a:p>
        </p:txBody>
      </p:sp>
      <p:sp>
        <p:nvSpPr>
          <p:cNvPr id="9" name="Text 7"/>
          <p:cNvSpPr/>
          <p:nvPr/>
        </p:nvSpPr>
        <p:spPr>
          <a:xfrm>
            <a:off x="320040" y="2670048"/>
            <a:ext cx="4114800" cy="256032"/>
          </a:xfrm>
          <a:prstGeom prst="rect">
            <a:avLst/>
          </a:prstGeom>
          <a:noFill/>
          <a:ln/>
        </p:spPr>
        <p:txBody>
          <a:bodyPr wrap="square" lIns="0" tIns="0" rIns="0" bIns="0" rtlCol="0" anchor="ctr"/>
          <a:lstStyle/>
          <a:p>
            <a:pPr indent="0" marL="0">
              <a:buNone/>
            </a:pPr>
            <a:r>
              <a:rPr lang="en-US" sz="1200" b="1" dirty="0">
                <a:solidFill>
                  <a:srgbClr val="8B0000"/>
                </a:solidFill>
                <a:latin typeface="Calibri" pitchFamily="34" charset="0"/>
                <a:ea typeface="Calibri" pitchFamily="34" charset="-122"/>
                <a:cs typeface="Calibri" pitchFamily="34" charset="-120"/>
              </a:rPr>
              <a:t>Backdoor Attack:</a:t>
            </a:r>
            <a:endParaRPr lang="en-US" sz="1200" dirty="0"/>
          </a:p>
        </p:txBody>
      </p:sp>
      <p:sp>
        <p:nvSpPr>
          <p:cNvPr id="10" name="Text 8"/>
          <p:cNvSpPr/>
          <p:nvPr/>
        </p:nvSpPr>
        <p:spPr>
          <a:xfrm>
            <a:off x="320040" y="2926080"/>
            <a:ext cx="4114800" cy="384048"/>
          </a:xfrm>
          <a:prstGeom prst="rect">
            <a:avLst/>
          </a:prstGeom>
          <a:noFill/>
          <a:ln/>
        </p:spPr>
        <p:txBody>
          <a:bodyPr wrap="square" lIns="0" tIns="0" rIns="0" bIns="0" rtlCol="0" anchor="ctr"/>
          <a:lstStyle/>
          <a:p>
            <a:pPr indent="0" marL="0">
              <a:buNone/>
            </a:pPr>
            <a:r>
              <a:rPr lang="en-US" sz="1100" dirty="0">
                <a:solidFill>
                  <a:srgbClr val="404040"/>
                </a:solidFill>
                <a:latin typeface="Calibri" pitchFamily="34" charset="0"/>
                <a:ea typeface="Calibri" pitchFamily="34" charset="-122"/>
                <a:cs typeface="Calibri" pitchFamily="34" charset="-120"/>
              </a:rPr>
              <a:t>Hides a secret trigger in the model. Works normally but gives wrong answers when it sees the specific trigger pattern.</a:t>
            </a:r>
            <a:endParaRPr lang="en-US" sz="1100" dirty="0"/>
          </a:p>
        </p:txBody>
      </p:sp>
      <p:sp>
        <p:nvSpPr>
          <p:cNvPr id="11" name="Text 9"/>
          <p:cNvSpPr/>
          <p:nvPr/>
        </p:nvSpPr>
        <p:spPr>
          <a:xfrm>
            <a:off x="320040" y="3419856"/>
            <a:ext cx="4114800" cy="256032"/>
          </a:xfrm>
          <a:prstGeom prst="rect">
            <a:avLst/>
          </a:prstGeom>
          <a:noFill/>
          <a:ln/>
        </p:spPr>
        <p:txBody>
          <a:bodyPr wrap="square" lIns="0" tIns="0" rIns="0" bIns="0" rtlCol="0" anchor="ctr"/>
          <a:lstStyle/>
          <a:p>
            <a:pPr indent="0" marL="0">
              <a:buNone/>
            </a:pPr>
            <a:r>
              <a:rPr lang="en-US" sz="1200" b="1" dirty="0">
                <a:solidFill>
                  <a:srgbClr val="8B0000"/>
                </a:solidFill>
                <a:latin typeface="Calibri" pitchFamily="34" charset="0"/>
                <a:ea typeface="Calibri" pitchFamily="34" charset="-122"/>
                <a:cs typeface="Calibri" pitchFamily="34" charset="-120"/>
              </a:rPr>
              <a:t>Byzantine Attacks:</a:t>
            </a:r>
            <a:endParaRPr lang="en-US" sz="1200" dirty="0"/>
          </a:p>
        </p:txBody>
      </p:sp>
      <p:sp>
        <p:nvSpPr>
          <p:cNvPr id="12" name="Text 10"/>
          <p:cNvSpPr/>
          <p:nvPr/>
        </p:nvSpPr>
        <p:spPr>
          <a:xfrm>
            <a:off x="320040" y="3675888"/>
            <a:ext cx="4114800" cy="384048"/>
          </a:xfrm>
          <a:prstGeom prst="rect">
            <a:avLst/>
          </a:prstGeom>
          <a:noFill/>
          <a:ln/>
        </p:spPr>
        <p:txBody>
          <a:bodyPr wrap="square" lIns="0" tIns="0" rIns="0" bIns="0" rtlCol="0" anchor="ctr"/>
          <a:lstStyle/>
          <a:p>
            <a:pPr indent="0" marL="0">
              <a:buNone/>
            </a:pPr>
            <a:r>
              <a:rPr lang="en-US" sz="1100" dirty="0">
                <a:solidFill>
                  <a:srgbClr val="404040"/>
                </a:solidFill>
                <a:latin typeface="Calibri" pitchFamily="34" charset="0"/>
                <a:ea typeface="Calibri" pitchFamily="34" charset="-122"/>
                <a:cs typeface="Calibri" pitchFamily="34" charset="-120"/>
              </a:rPr>
              <a:t>General term for any client that behaves in a completely malicious or unpredictable way.</a:t>
            </a:r>
            <a:endParaRPr lang="en-US" sz="1100" dirty="0"/>
          </a:p>
        </p:txBody>
      </p:sp>
      <p:sp>
        <p:nvSpPr>
          <p:cNvPr id="13" name="Shape 11"/>
          <p:cNvSpPr/>
          <p:nvPr/>
        </p:nvSpPr>
        <p:spPr>
          <a:xfrm>
            <a:off x="4572000" y="749808"/>
            <a:ext cx="0" cy="4114800"/>
          </a:xfrm>
          <a:prstGeom prst="line">
            <a:avLst/>
          </a:prstGeom>
          <a:noFill/>
          <a:ln w="12700">
            <a:solidFill>
              <a:srgbClr val="CCCCCC"/>
            </a:solidFill>
            <a:prstDash val="solid"/>
          </a:ln>
        </p:spPr>
      </p:sp>
      <p:sp>
        <p:nvSpPr>
          <p:cNvPr id="14" name="Text 12"/>
          <p:cNvSpPr/>
          <p:nvPr/>
        </p:nvSpPr>
        <p:spPr>
          <a:xfrm>
            <a:off x="4754880" y="804672"/>
            <a:ext cx="4114800" cy="329184"/>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Attacks on Privacy:</a:t>
            </a:r>
            <a:endParaRPr lang="en-US" sz="1500" dirty="0"/>
          </a:p>
        </p:txBody>
      </p:sp>
      <p:sp>
        <p:nvSpPr>
          <p:cNvPr id="15" name="Text 13"/>
          <p:cNvSpPr/>
          <p:nvPr/>
        </p:nvSpPr>
        <p:spPr>
          <a:xfrm>
            <a:off x="4754880" y="1170432"/>
            <a:ext cx="4114800" cy="256032"/>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Gradient Inversion:</a:t>
            </a:r>
            <a:endParaRPr lang="en-US" sz="1200" dirty="0"/>
          </a:p>
        </p:txBody>
      </p:sp>
      <p:sp>
        <p:nvSpPr>
          <p:cNvPr id="16" name="Text 14"/>
          <p:cNvSpPr/>
          <p:nvPr/>
        </p:nvSpPr>
        <p:spPr>
          <a:xfrm>
            <a:off x="4754880" y="1426464"/>
            <a:ext cx="4114800" cy="502920"/>
          </a:xfrm>
          <a:prstGeom prst="rect">
            <a:avLst/>
          </a:prstGeom>
          <a:noFill/>
          <a:ln/>
        </p:spPr>
        <p:txBody>
          <a:bodyPr wrap="square" lIns="0" tIns="0" rIns="0" bIns="0" rtlCol="0" anchor="ctr"/>
          <a:lstStyle/>
          <a:p>
            <a:pPr indent="0" marL="0">
              <a:buNone/>
            </a:pPr>
            <a:r>
              <a:rPr lang="en-US" sz="1100" dirty="0">
                <a:solidFill>
                  <a:srgbClr val="404040"/>
                </a:solidFill>
                <a:latin typeface="Calibri" pitchFamily="34" charset="0"/>
                <a:ea typeface="Calibri" pitchFamily="34" charset="-122"/>
                <a:cs typeface="Calibri" pitchFamily="34" charset="-120"/>
              </a:rPr>
              <a:t>By looking at the gradient updates, the attacker can actually reconstruct the original private data including images. This was a huge surprise to everyone.</a:t>
            </a:r>
            <a:endParaRPr lang="en-US" sz="1100" dirty="0"/>
          </a:p>
        </p:txBody>
      </p:sp>
      <p:sp>
        <p:nvSpPr>
          <p:cNvPr id="17" name="Text 15"/>
          <p:cNvSpPr/>
          <p:nvPr/>
        </p:nvSpPr>
        <p:spPr>
          <a:xfrm>
            <a:off x="4754880" y="2084832"/>
            <a:ext cx="4114800" cy="256032"/>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Membership Inference:</a:t>
            </a:r>
            <a:endParaRPr lang="en-US" sz="1200" dirty="0"/>
          </a:p>
        </p:txBody>
      </p:sp>
      <p:sp>
        <p:nvSpPr>
          <p:cNvPr id="18" name="Text 16"/>
          <p:cNvSpPr/>
          <p:nvPr/>
        </p:nvSpPr>
        <p:spPr>
          <a:xfrm>
            <a:off x="4754880" y="2340864"/>
            <a:ext cx="4114800" cy="502920"/>
          </a:xfrm>
          <a:prstGeom prst="rect">
            <a:avLst/>
          </a:prstGeom>
          <a:noFill/>
          <a:ln/>
        </p:spPr>
        <p:txBody>
          <a:bodyPr wrap="square" lIns="0" tIns="0" rIns="0" bIns="0" rtlCol="0" anchor="ctr"/>
          <a:lstStyle/>
          <a:p>
            <a:pPr indent="0" marL="0">
              <a:buNone/>
            </a:pPr>
            <a:r>
              <a:rPr lang="en-US" sz="1100" dirty="0">
                <a:solidFill>
                  <a:srgbClr val="404040"/>
                </a:solidFill>
                <a:latin typeface="Calibri" pitchFamily="34" charset="0"/>
                <a:ea typeface="Calibri" pitchFamily="34" charset="-122"/>
                <a:cs typeface="Calibri" pitchFamily="34" charset="-120"/>
              </a:rPr>
              <a:t>The attacker just wants to know if a specific persons data was used in training. Even this can reveal sensitive information.</a:t>
            </a:r>
            <a:endParaRPr lang="en-US" sz="1100" dirty="0"/>
          </a:p>
        </p:txBody>
      </p:sp>
      <p:sp>
        <p:nvSpPr>
          <p:cNvPr id="19" name="Text 17"/>
          <p:cNvSpPr/>
          <p:nvPr/>
        </p:nvSpPr>
        <p:spPr>
          <a:xfrm>
            <a:off x="4754880" y="2999232"/>
            <a:ext cx="4114800" cy="256032"/>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Property Inference:</a:t>
            </a:r>
            <a:endParaRPr lang="en-US" sz="1200" dirty="0"/>
          </a:p>
        </p:txBody>
      </p:sp>
      <p:sp>
        <p:nvSpPr>
          <p:cNvPr id="20" name="Text 18"/>
          <p:cNvSpPr/>
          <p:nvPr/>
        </p:nvSpPr>
        <p:spPr>
          <a:xfrm>
            <a:off x="4754880" y="3255264"/>
            <a:ext cx="4114800" cy="502920"/>
          </a:xfrm>
          <a:prstGeom prst="rect">
            <a:avLst/>
          </a:prstGeom>
          <a:noFill/>
          <a:ln/>
        </p:spPr>
        <p:txBody>
          <a:bodyPr wrap="square" lIns="0" tIns="0" rIns="0" bIns="0" rtlCol="0" anchor="ctr"/>
          <a:lstStyle/>
          <a:p>
            <a:pPr indent="0" marL="0">
              <a:buNone/>
            </a:pPr>
            <a:r>
              <a:rPr lang="en-US" sz="1100" dirty="0">
                <a:solidFill>
                  <a:srgbClr val="404040"/>
                </a:solidFill>
                <a:latin typeface="Calibri" pitchFamily="34" charset="0"/>
                <a:ea typeface="Calibri" pitchFamily="34" charset="-122"/>
                <a:cs typeface="Calibri" pitchFamily="34" charset="-120"/>
              </a:rPr>
              <a:t>Attacker learns statistics about the training data, like what percentage of patients have a certain disease.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375623"/>
          </a:solidFill>
          <a:ln w="12700">
            <a:solidFill>
              <a:srgbClr val="375623"/>
            </a:solidFill>
            <a:prstDash val="solid"/>
          </a:ln>
        </p:spPr>
      </p:sp>
      <p:sp>
        <p:nvSpPr>
          <p:cNvPr id="3" name="Text 1"/>
          <p:cNvSpPr/>
          <p:nvPr/>
        </p:nvSpPr>
        <p:spPr>
          <a:xfrm>
            <a:off x="274320" y="73152"/>
            <a:ext cx="859536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4. Fighting Back — The Defenses That Were Proposed</a:t>
            </a:r>
            <a:endParaRPr lang="en-US" sz="2200" dirty="0"/>
          </a:p>
        </p:txBody>
      </p:sp>
      <p:sp>
        <p:nvSpPr>
          <p:cNvPr id="4" name="Text 2"/>
          <p:cNvSpPr/>
          <p:nvPr/>
        </p:nvSpPr>
        <p:spPr>
          <a:xfrm>
            <a:off x="365760" y="777240"/>
            <a:ext cx="8412480" cy="320040"/>
          </a:xfrm>
          <a:prstGeom prst="rect">
            <a:avLst/>
          </a:prstGeom>
          <a:noFill/>
          <a:ln/>
        </p:spPr>
        <p:txBody>
          <a:bodyPr wrap="square" rtlCol="0" anchor="ctr"/>
          <a:lstStyle/>
          <a:p>
            <a:pPr indent="0" marL="0">
              <a:buNone/>
            </a:pPr>
            <a:r>
              <a:rPr lang="en-US" sz="1300" i="1" dirty="0">
                <a:solidFill>
                  <a:srgbClr val="404040"/>
                </a:solidFill>
                <a:latin typeface="Calibri" pitchFamily="34" charset="0"/>
                <a:ea typeface="Calibri" pitchFamily="34" charset="-122"/>
                <a:cs typeface="Calibri" pitchFamily="34" charset="-120"/>
              </a:rPr>
              <a:t>Researchers found different ways to fight back, but each one has problems:</a:t>
            </a:r>
            <a:endParaRPr lang="en-US" sz="1300" dirty="0"/>
          </a:p>
        </p:txBody>
      </p:sp>
      <p:sp>
        <p:nvSpPr>
          <p:cNvPr id="5" name="Shape 3"/>
          <p:cNvSpPr/>
          <p:nvPr/>
        </p:nvSpPr>
        <p:spPr>
          <a:xfrm>
            <a:off x="228600" y="1170432"/>
            <a:ext cx="137160" cy="594360"/>
          </a:xfrm>
          <a:prstGeom prst="rect">
            <a:avLst/>
          </a:prstGeom>
          <a:solidFill>
            <a:srgbClr val="375623"/>
          </a:solidFill>
          <a:ln w="12700">
            <a:solidFill>
              <a:srgbClr val="375623"/>
            </a:solidFill>
            <a:prstDash val="solid"/>
          </a:ln>
        </p:spPr>
      </p:sp>
      <p:sp>
        <p:nvSpPr>
          <p:cNvPr id="6" name="Text 4"/>
          <p:cNvSpPr/>
          <p:nvPr/>
        </p:nvSpPr>
        <p:spPr>
          <a:xfrm>
            <a:off x="457200" y="1188720"/>
            <a:ext cx="8412480" cy="237744"/>
          </a:xfrm>
          <a:prstGeom prst="rect">
            <a:avLst/>
          </a:prstGeom>
          <a:noFill/>
          <a:ln/>
        </p:spPr>
        <p:txBody>
          <a:bodyPr wrap="square" lIns="0" tIns="0" rIns="0" bIns="0" rtlCol="0" anchor="ctr"/>
          <a:lstStyle/>
          <a:p>
            <a:pPr indent="0" marL="0">
              <a:buNone/>
            </a:pPr>
            <a:r>
              <a:rPr lang="en-US" sz="1200" b="1" dirty="0">
                <a:solidFill>
                  <a:srgbClr val="375623"/>
                </a:solidFill>
                <a:latin typeface="Calibri" pitchFamily="34" charset="0"/>
                <a:ea typeface="Calibri" pitchFamily="34" charset="-122"/>
                <a:cs typeface="Calibri" pitchFamily="34" charset="-120"/>
              </a:rPr>
              <a:t>Differential Privacy</a:t>
            </a:r>
            <a:endParaRPr lang="en-US" sz="1200" dirty="0"/>
          </a:p>
        </p:txBody>
      </p:sp>
      <p:sp>
        <p:nvSpPr>
          <p:cNvPr id="7" name="Text 5"/>
          <p:cNvSpPr/>
          <p:nvPr/>
        </p:nvSpPr>
        <p:spPr>
          <a:xfrm>
            <a:off x="457200" y="1444752"/>
            <a:ext cx="8412480" cy="274320"/>
          </a:xfrm>
          <a:prstGeom prst="rect">
            <a:avLst/>
          </a:prstGeom>
          <a:noFill/>
          <a:ln/>
        </p:spPr>
        <p:txBody>
          <a:bodyPr wrap="square" lIns="0" tIns="0" rIns="0" bIns="0" rtlCol="0" anchor="ctr"/>
          <a:lstStyle/>
          <a:p>
            <a:pPr indent="0" marL="0">
              <a:buNone/>
            </a:pPr>
            <a:r>
              <a:rPr lang="en-US" sz="1100" dirty="0">
                <a:solidFill>
                  <a:srgbClr val="404040"/>
                </a:solidFill>
                <a:latin typeface="Calibri" pitchFamily="34" charset="0"/>
                <a:ea typeface="Calibri" pitchFamily="34" charset="-122"/>
                <a:cs typeface="Calibri" pitchFamily="34" charset="-120"/>
              </a:rPr>
              <a:t>✓ Adds noise to gradients, hides private data from the server   ✗ Reduces model accuracy, hard to balance</a:t>
            </a:r>
            <a:endParaRPr lang="en-US" sz="1100" dirty="0"/>
          </a:p>
        </p:txBody>
      </p:sp>
      <p:sp>
        <p:nvSpPr>
          <p:cNvPr id="8" name="Shape 6"/>
          <p:cNvSpPr/>
          <p:nvPr/>
        </p:nvSpPr>
        <p:spPr>
          <a:xfrm>
            <a:off x="228600" y="1837944"/>
            <a:ext cx="137160" cy="594360"/>
          </a:xfrm>
          <a:prstGeom prst="rect">
            <a:avLst/>
          </a:prstGeom>
          <a:solidFill>
            <a:srgbClr val="2E75B6"/>
          </a:solidFill>
          <a:ln w="12700">
            <a:solidFill>
              <a:srgbClr val="2E75B6"/>
            </a:solidFill>
            <a:prstDash val="solid"/>
          </a:ln>
        </p:spPr>
      </p:sp>
      <p:sp>
        <p:nvSpPr>
          <p:cNvPr id="9" name="Text 7"/>
          <p:cNvSpPr/>
          <p:nvPr/>
        </p:nvSpPr>
        <p:spPr>
          <a:xfrm>
            <a:off x="457200" y="1856232"/>
            <a:ext cx="8412480" cy="237744"/>
          </a:xfrm>
          <a:prstGeom prst="rect">
            <a:avLst/>
          </a:prstGeom>
          <a:noFill/>
          <a:ln/>
        </p:spPr>
        <p:txBody>
          <a:bodyPr wrap="square" lIns="0" tIns="0" rIns="0" bIns="0" rtlCol="0" anchor="ctr"/>
          <a:lstStyle/>
          <a:p>
            <a:pPr indent="0" marL="0">
              <a:buNone/>
            </a:pPr>
            <a:r>
              <a:rPr lang="en-US" sz="1200" b="1" dirty="0">
                <a:solidFill>
                  <a:srgbClr val="2E75B6"/>
                </a:solidFill>
                <a:latin typeface="Calibri" pitchFamily="34" charset="0"/>
                <a:ea typeface="Calibri" pitchFamily="34" charset="-122"/>
                <a:cs typeface="Calibri" pitchFamily="34" charset="-120"/>
              </a:rPr>
              <a:t>Homomorphic Encryption</a:t>
            </a:r>
            <a:endParaRPr lang="en-US" sz="1200" dirty="0"/>
          </a:p>
        </p:txBody>
      </p:sp>
      <p:sp>
        <p:nvSpPr>
          <p:cNvPr id="10" name="Text 8"/>
          <p:cNvSpPr/>
          <p:nvPr/>
        </p:nvSpPr>
        <p:spPr>
          <a:xfrm>
            <a:off x="457200" y="2112264"/>
            <a:ext cx="8412480" cy="274320"/>
          </a:xfrm>
          <a:prstGeom prst="rect">
            <a:avLst/>
          </a:prstGeom>
          <a:noFill/>
          <a:ln/>
        </p:spPr>
        <p:txBody>
          <a:bodyPr wrap="square" lIns="0" tIns="0" rIns="0" bIns="0" rtlCol="0" anchor="ctr"/>
          <a:lstStyle/>
          <a:p>
            <a:pPr indent="0" marL="0">
              <a:buNone/>
            </a:pPr>
            <a:r>
              <a:rPr lang="en-US" sz="1100" dirty="0">
                <a:solidFill>
                  <a:srgbClr val="404040"/>
                </a:solidFill>
                <a:latin typeface="Calibri" pitchFamily="34" charset="0"/>
                <a:ea typeface="Calibri" pitchFamily="34" charset="-122"/>
                <a:cs typeface="Calibri" pitchFamily="34" charset="-120"/>
              </a:rPr>
              <a:t>✓ Server computes on encrypted gradients, never sees the data   ✗ 100-1000x slower than normal operations, hard to detect bad updates</a:t>
            </a:r>
            <a:endParaRPr lang="en-US" sz="1100" dirty="0"/>
          </a:p>
        </p:txBody>
      </p:sp>
      <p:sp>
        <p:nvSpPr>
          <p:cNvPr id="11" name="Shape 9"/>
          <p:cNvSpPr/>
          <p:nvPr/>
        </p:nvSpPr>
        <p:spPr>
          <a:xfrm>
            <a:off x="228600" y="2505456"/>
            <a:ext cx="137160" cy="594360"/>
          </a:xfrm>
          <a:prstGeom prst="rect">
            <a:avLst/>
          </a:prstGeom>
          <a:solidFill>
            <a:srgbClr val="1F3864"/>
          </a:solidFill>
          <a:ln w="12700">
            <a:solidFill>
              <a:srgbClr val="1F3864"/>
            </a:solidFill>
            <a:prstDash val="solid"/>
          </a:ln>
        </p:spPr>
      </p:sp>
      <p:sp>
        <p:nvSpPr>
          <p:cNvPr id="12" name="Text 10"/>
          <p:cNvSpPr/>
          <p:nvPr/>
        </p:nvSpPr>
        <p:spPr>
          <a:xfrm>
            <a:off x="457200" y="2523744"/>
            <a:ext cx="8412480" cy="237744"/>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Secure Aggregation (SMPC)</a:t>
            </a:r>
            <a:endParaRPr lang="en-US" sz="1200" dirty="0"/>
          </a:p>
        </p:txBody>
      </p:sp>
      <p:sp>
        <p:nvSpPr>
          <p:cNvPr id="13" name="Text 11"/>
          <p:cNvSpPr/>
          <p:nvPr/>
        </p:nvSpPr>
        <p:spPr>
          <a:xfrm>
            <a:off x="457200" y="2779776"/>
            <a:ext cx="8412480" cy="274320"/>
          </a:xfrm>
          <a:prstGeom prst="rect">
            <a:avLst/>
          </a:prstGeom>
          <a:noFill/>
          <a:ln/>
        </p:spPr>
        <p:txBody>
          <a:bodyPr wrap="square" lIns="0" tIns="0" rIns="0" bIns="0" rtlCol="0" anchor="ctr"/>
          <a:lstStyle/>
          <a:p>
            <a:pPr indent="0" marL="0">
              <a:buNone/>
            </a:pPr>
            <a:r>
              <a:rPr lang="en-US" sz="1100" dirty="0">
                <a:solidFill>
                  <a:srgbClr val="404040"/>
                </a:solidFill>
                <a:latin typeface="Calibri" pitchFamily="34" charset="0"/>
                <a:ea typeface="Calibri" pitchFamily="34" charset="-122"/>
                <a:cs typeface="Calibri" pitchFamily="34" charset="-120"/>
              </a:rPr>
              <a:t>✓ Server only gets the total sum, cant see individual updates   ✗ Very high communication cost, fails if some clients disconnect</a:t>
            </a:r>
            <a:endParaRPr lang="en-US" sz="1100" dirty="0"/>
          </a:p>
        </p:txBody>
      </p:sp>
      <p:sp>
        <p:nvSpPr>
          <p:cNvPr id="14" name="Shape 12"/>
          <p:cNvSpPr/>
          <p:nvPr/>
        </p:nvSpPr>
        <p:spPr>
          <a:xfrm>
            <a:off x="228600" y="3172968"/>
            <a:ext cx="137160" cy="594360"/>
          </a:xfrm>
          <a:prstGeom prst="rect">
            <a:avLst/>
          </a:prstGeom>
          <a:solidFill>
            <a:srgbClr val="1A5276"/>
          </a:solidFill>
          <a:ln w="12700">
            <a:solidFill>
              <a:srgbClr val="1A5276"/>
            </a:solidFill>
            <a:prstDash val="solid"/>
          </a:ln>
        </p:spPr>
      </p:sp>
      <p:sp>
        <p:nvSpPr>
          <p:cNvPr id="15" name="Text 13"/>
          <p:cNvSpPr/>
          <p:nvPr/>
        </p:nvSpPr>
        <p:spPr>
          <a:xfrm>
            <a:off x="457200" y="3191256"/>
            <a:ext cx="8412480" cy="237744"/>
          </a:xfrm>
          <a:prstGeom prst="rect">
            <a:avLst/>
          </a:prstGeom>
          <a:noFill/>
          <a:ln/>
        </p:spPr>
        <p:txBody>
          <a:bodyPr wrap="square" lIns="0" tIns="0" rIns="0" bIns="0" rtlCol="0" anchor="ctr"/>
          <a:lstStyle/>
          <a:p>
            <a:pPr indent="0" marL="0">
              <a:buNone/>
            </a:pPr>
            <a:r>
              <a:rPr lang="en-US" sz="1200" b="1" dirty="0">
                <a:solidFill>
                  <a:srgbClr val="1A5276"/>
                </a:solidFill>
                <a:latin typeface="Calibri" pitchFamily="34" charset="0"/>
                <a:ea typeface="Calibri" pitchFamily="34" charset="-122"/>
                <a:cs typeface="Calibri" pitchFamily="34" charset="-120"/>
              </a:rPr>
              <a:t>Blockchain</a:t>
            </a:r>
            <a:endParaRPr lang="en-US" sz="1200" dirty="0"/>
          </a:p>
        </p:txBody>
      </p:sp>
      <p:sp>
        <p:nvSpPr>
          <p:cNvPr id="16" name="Text 14"/>
          <p:cNvSpPr/>
          <p:nvPr/>
        </p:nvSpPr>
        <p:spPr>
          <a:xfrm>
            <a:off x="457200" y="3447288"/>
            <a:ext cx="8412480" cy="274320"/>
          </a:xfrm>
          <a:prstGeom prst="rect">
            <a:avLst/>
          </a:prstGeom>
          <a:noFill/>
          <a:ln/>
        </p:spPr>
        <p:txBody>
          <a:bodyPr wrap="square" lIns="0" tIns="0" rIns="0" bIns="0" rtlCol="0" anchor="ctr"/>
          <a:lstStyle/>
          <a:p>
            <a:pPr indent="0" marL="0">
              <a:buNone/>
            </a:pPr>
            <a:r>
              <a:rPr lang="en-US" sz="1100" dirty="0">
                <a:solidFill>
                  <a:srgbClr val="404040"/>
                </a:solidFill>
                <a:latin typeface="Calibri" pitchFamily="34" charset="0"/>
                <a:ea typeface="Calibri" pitchFamily="34" charset="-122"/>
                <a:cs typeface="Calibri" pitchFamily="34" charset="-120"/>
              </a:rPr>
              <a:t>✓ No central server needed, transparent and tamper-proof   ✗ Slow, uses alot of energy, not practical for most systems</a:t>
            </a:r>
            <a:endParaRPr lang="en-US" sz="1100" dirty="0"/>
          </a:p>
        </p:txBody>
      </p:sp>
      <p:sp>
        <p:nvSpPr>
          <p:cNvPr id="17" name="Shape 15"/>
          <p:cNvSpPr/>
          <p:nvPr/>
        </p:nvSpPr>
        <p:spPr>
          <a:xfrm>
            <a:off x="228600" y="3840480"/>
            <a:ext cx="137160" cy="594360"/>
          </a:xfrm>
          <a:prstGeom prst="rect">
            <a:avLst/>
          </a:prstGeom>
          <a:solidFill>
            <a:srgbClr val="5C1A1A"/>
          </a:solidFill>
          <a:ln w="12700">
            <a:solidFill>
              <a:srgbClr val="5C1A1A"/>
            </a:solidFill>
            <a:prstDash val="solid"/>
          </a:ln>
        </p:spPr>
      </p:sp>
      <p:sp>
        <p:nvSpPr>
          <p:cNvPr id="18" name="Text 16"/>
          <p:cNvSpPr/>
          <p:nvPr/>
        </p:nvSpPr>
        <p:spPr>
          <a:xfrm>
            <a:off x="457200" y="3858768"/>
            <a:ext cx="8412480" cy="237744"/>
          </a:xfrm>
          <a:prstGeom prst="rect">
            <a:avLst/>
          </a:prstGeom>
          <a:noFill/>
          <a:ln/>
        </p:spPr>
        <p:txBody>
          <a:bodyPr wrap="square" lIns="0" tIns="0" rIns="0" bIns="0" rtlCol="0" anchor="ctr"/>
          <a:lstStyle/>
          <a:p>
            <a:pPr indent="0" marL="0">
              <a:buNone/>
            </a:pPr>
            <a:r>
              <a:rPr lang="en-US" sz="1200" b="1" dirty="0">
                <a:solidFill>
                  <a:srgbClr val="5C1A1A"/>
                </a:solidFill>
                <a:latin typeface="Calibri" pitchFamily="34" charset="0"/>
                <a:ea typeface="Calibri" pitchFamily="34" charset="-122"/>
                <a:cs typeface="Calibri" pitchFamily="34" charset="-120"/>
              </a:rPr>
              <a:t>Privacy-Security Paradox (TEE)</a:t>
            </a:r>
            <a:endParaRPr lang="en-US" sz="1200" dirty="0"/>
          </a:p>
        </p:txBody>
      </p:sp>
      <p:sp>
        <p:nvSpPr>
          <p:cNvPr id="19" name="Text 17"/>
          <p:cNvSpPr/>
          <p:nvPr/>
        </p:nvSpPr>
        <p:spPr>
          <a:xfrm>
            <a:off x="457200" y="4114800"/>
            <a:ext cx="8412480" cy="274320"/>
          </a:xfrm>
          <a:prstGeom prst="rect">
            <a:avLst/>
          </a:prstGeom>
          <a:noFill/>
          <a:ln/>
        </p:spPr>
        <p:txBody>
          <a:bodyPr wrap="square" lIns="0" tIns="0" rIns="0" bIns="0" rtlCol="0" anchor="ctr"/>
          <a:lstStyle/>
          <a:p>
            <a:pPr indent="0" marL="0">
              <a:buNone/>
            </a:pPr>
            <a:r>
              <a:rPr lang="en-US" sz="1100" dirty="0">
                <a:solidFill>
                  <a:srgbClr val="404040"/>
                </a:solidFill>
                <a:latin typeface="Calibri" pitchFamily="34" charset="0"/>
                <a:ea typeface="Calibri" pitchFamily="34" charset="-122"/>
                <a:cs typeface="Calibri" pitchFamily="34" charset="-120"/>
              </a:rPr>
              <a:t>✓ Trusted Execution Environments let server check updates safely   ✗ Needs special hardware, not always available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274320" y="73152"/>
            <a:ext cx="859536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5. Comparing the Papers I Read</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82880" y="777240"/>
          <a:ext cx="8778240" cy="4251960"/>
        </p:xfrm>
        <a:graphic>
          <a:graphicData uri="http://schemas.openxmlformats.org/drawingml/2006/table">
            <a:tbl>
              <a:tblPr/>
              <a:tblGrid>
                <a:gridCol w="1920240"/>
                <a:gridCol w="502920"/>
                <a:gridCol w="2011680"/>
                <a:gridCol w="1691640"/>
                <a:gridCol w="1737360"/>
              </a:tblGrid>
              <a:tr h="386542">
                <a:tc>
                  <a:txBody>
                    <a:bodyPr/>
                    <a:lstStyle/>
                    <a:p>
                      <a:pPr algn="ctr" indent="0" marL="0">
                        <a:buNone/>
                      </a:pPr>
                      <a:r>
                        <a:rPr lang="en-US" sz="1100" b="1" dirty="0">
                          <a:solidFill>
                            <a:srgbClr val="FFFFFF"/>
                          </a:solidFill>
                        </a:rPr>
                        <a:t>Study</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Year</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Main Topic</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Method</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Problem</a:t>
                      </a:r>
                      <a:endParaRPr lang="en-US" sz="11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3864"/>
                    </a:solidFill>
                  </a:tcPr>
                </a:tc>
              </a:tr>
              <a:tr h="386542">
                <a:tc>
                  <a:txBody>
                    <a:bodyPr/>
                    <a:lstStyle/>
                    <a:p>
                      <a:pPr algn="l" indent="0" marL="0">
                        <a:buNone/>
                      </a:pPr>
                      <a:r>
                        <a:rPr lang="en-US" sz="1000" b="1" dirty="0">
                          <a:solidFill>
                            <a:srgbClr val="404040"/>
                          </a:solidFill>
                        </a:rPr>
                        <a:t>Jimenez-Gutierrez et al.</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2E75B6"/>
                          </a:solidFill>
                        </a:rPr>
                        <a:t>2025</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Full overview of FL security</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Survey 200+ papers</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Hard to compare</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r>
              <a:tr h="386542">
                <a:tc>
                  <a:txBody>
                    <a:bodyPr/>
                    <a:lstStyle/>
                    <a:p>
                      <a:pPr algn="l" indent="0" marL="0">
                        <a:buNone/>
                      </a:pPr>
                      <a:r>
                        <a:rPr lang="en-US" sz="1000" b="1" dirty="0">
                          <a:solidFill>
                            <a:srgbClr val="404040"/>
                          </a:solidFill>
                        </a:rPr>
                        <a:t>Friha et al.</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E75B6"/>
                          </a:solidFill>
                        </a:rPr>
                        <a:t>2024</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Defense strategies</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HE + Blockchain + DP</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Very slow</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86542">
                <a:tc>
                  <a:txBody>
                    <a:bodyPr/>
                    <a:lstStyle/>
                    <a:p>
                      <a:pPr algn="l" indent="0" marL="0">
                        <a:buNone/>
                      </a:pPr>
                      <a:r>
                        <a:rPr lang="en-US" sz="1000" b="1" dirty="0">
                          <a:solidFill>
                            <a:srgbClr val="404040"/>
                          </a:solidFill>
                        </a:rPr>
                        <a:t>Zhao et al.</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2E75B6"/>
                          </a:solidFill>
                        </a:rPr>
                        <a:t>2024</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Privacy attacks &amp; laws</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Policy + tech review</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Less technical</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r>
              <a:tr h="386542">
                <a:tc>
                  <a:txBody>
                    <a:bodyPr/>
                    <a:lstStyle/>
                    <a:p>
                      <a:pPr algn="l" indent="0" marL="0">
                        <a:buNone/>
                      </a:pPr>
                      <a:r>
                        <a:rPr lang="en-US" sz="1000" b="1" dirty="0">
                          <a:solidFill>
                            <a:srgbClr val="404040"/>
                          </a:solidFill>
                        </a:rPr>
                        <a:t>Chen et al.</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E75B6"/>
                          </a:solidFill>
                        </a:rPr>
                        <a:t>2022</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Types of attacks</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Poisoning, Backdoor</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Few defenses</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86542">
                <a:tc>
                  <a:txBody>
                    <a:bodyPr/>
                    <a:lstStyle/>
                    <a:p>
                      <a:pPr algn="l" indent="0" marL="0">
                        <a:buNone/>
                      </a:pPr>
                      <a:r>
                        <a:rPr lang="en-US" sz="1000" b="1" dirty="0">
                          <a:solidFill>
                            <a:srgbClr val="404040"/>
                          </a:solidFill>
                        </a:rPr>
                        <a:t>Han et al.</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2E75B6"/>
                          </a:solidFill>
                        </a:rPr>
                        <a:t>2024</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Privacy vs security</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Secure agg. + TEE</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Special hardware</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r>
              <a:tr h="386542">
                <a:tc>
                  <a:txBody>
                    <a:bodyPr/>
                    <a:lstStyle/>
                    <a:p>
                      <a:pPr algn="l" indent="0" marL="0">
                        <a:buNone/>
                      </a:pPr>
                      <a:r>
                        <a:rPr lang="en-US" sz="1000" b="1" dirty="0">
                          <a:solidFill>
                            <a:srgbClr val="404040"/>
                          </a:solidFill>
                        </a:rPr>
                        <a:t>Grivet Sebert et al.</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E75B6"/>
                          </a:solidFill>
                        </a:rPr>
                        <a:t>2023</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HE + DP together</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SABLE algorithm</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Too slow</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86542">
                <a:tc>
                  <a:txBody>
                    <a:bodyPr/>
                    <a:lstStyle/>
                    <a:p>
                      <a:pPr algn="l" indent="0" marL="0">
                        <a:buNone/>
                      </a:pPr>
                      <a:r>
                        <a:rPr lang="en-US" sz="1000" b="1" dirty="0">
                          <a:solidFill>
                            <a:srgbClr val="404040"/>
                          </a:solidFill>
                        </a:rPr>
                        <a:t>Zhang et al.</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2E75B6"/>
                          </a:solidFill>
                        </a:rPr>
                        <a:t>2023</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HE for Byzantine FL</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CKKS encryption</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Complex keys</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r>
              <a:tr h="386542">
                <a:tc>
                  <a:txBody>
                    <a:bodyPr/>
                    <a:lstStyle/>
                    <a:p>
                      <a:pPr algn="l" indent="0" marL="0">
                        <a:buNone/>
                      </a:pPr>
                      <a:r>
                        <a:rPr lang="en-US" sz="1000" b="1" dirty="0">
                          <a:solidFill>
                            <a:srgbClr val="404040"/>
                          </a:solidFill>
                        </a:rPr>
                        <a:t>Lyu et al.</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E75B6"/>
                          </a:solidFill>
                        </a:rPr>
                        <a:t>2022</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GAN &amp; backdoor attacks</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DP + Secure agg.</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Old models</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86542">
                <a:tc>
                  <a:txBody>
                    <a:bodyPr/>
                    <a:lstStyle/>
                    <a:p>
                      <a:pPr algn="l" indent="0" marL="0">
                        <a:buNone/>
                      </a:pPr>
                      <a:r>
                        <a:rPr lang="en-US" sz="1000" b="1" dirty="0">
                          <a:solidFill>
                            <a:srgbClr val="404040"/>
                          </a:solidFill>
                        </a:rPr>
                        <a:t>Barr et al.</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2E75B6"/>
                          </a:solidFill>
                        </a:rPr>
                        <a:t>2023</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Making HE faster</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Paillier + CKKS</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l" indent="0" marL="0">
                        <a:buNone/>
                      </a:pPr>
                      <a:r>
                        <a:rPr lang="en-US" sz="1000" dirty="0">
                          <a:solidFill>
                            <a:srgbClr val="404040"/>
                          </a:solidFill>
                        </a:rPr>
                        <a:t>Not real tested</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r>
              <a:tr h="386542">
                <a:tc>
                  <a:txBody>
                    <a:bodyPr/>
                    <a:lstStyle/>
                    <a:p>
                      <a:pPr algn="l" indent="0" marL="0">
                        <a:buNone/>
                      </a:pPr>
                      <a:r>
                        <a:rPr lang="en-US" sz="1000" b="1" dirty="0">
                          <a:solidFill>
                            <a:srgbClr val="404040"/>
                          </a:solidFill>
                        </a:rPr>
                        <a:t>SPP-FLHE</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E75B6"/>
                          </a:solidFill>
                        </a:rPr>
                        <a:t>2025</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FL for smart cities</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HE + DP combined</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04040"/>
                          </a:solidFill>
                        </a:rPr>
                        <a:t>Only smart cities</a:t>
                      </a:r>
                      <a:endParaRPr lang="en-US" sz="100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w="12700">
            <a:solidFill>
              <a:srgbClr val="1F3864"/>
            </a:solidFill>
            <a:prstDash val="solid"/>
          </a:ln>
        </p:spPr>
      </p:sp>
      <p:sp>
        <p:nvSpPr>
          <p:cNvPr id="3" name="Text 1"/>
          <p:cNvSpPr/>
          <p:nvPr/>
        </p:nvSpPr>
        <p:spPr>
          <a:xfrm>
            <a:off x="274320" y="73152"/>
            <a:ext cx="859536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6. What Is Still Not Solved</a:t>
            </a:r>
            <a:endParaRPr lang="en-US" sz="2200" dirty="0"/>
          </a:p>
        </p:txBody>
      </p:sp>
      <p:sp>
        <p:nvSpPr>
          <p:cNvPr id="4" name="Text 2"/>
          <p:cNvSpPr/>
          <p:nvPr/>
        </p:nvSpPr>
        <p:spPr>
          <a:xfrm>
            <a:off x="365760" y="777240"/>
            <a:ext cx="8412480" cy="320040"/>
          </a:xfrm>
          <a:prstGeom prst="rect">
            <a:avLst/>
          </a:prstGeom>
          <a:noFill/>
          <a:ln/>
        </p:spPr>
        <p:txBody>
          <a:bodyPr wrap="square" rtlCol="0" anchor="ctr"/>
          <a:lstStyle/>
          <a:p>
            <a:pPr indent="0" marL="0">
              <a:buNone/>
            </a:pPr>
            <a:r>
              <a:rPr lang="en-US" sz="1300" i="1" dirty="0">
                <a:solidFill>
                  <a:srgbClr val="404040"/>
                </a:solidFill>
                <a:latin typeface="Calibri" pitchFamily="34" charset="0"/>
                <a:ea typeface="Calibri" pitchFamily="34" charset="-122"/>
                <a:cs typeface="Calibri" pitchFamily="34" charset="-120"/>
              </a:rPr>
              <a:t>Even after all this research, there are still big problems nobody fully solved yet:</a:t>
            </a:r>
            <a:endParaRPr lang="en-US" sz="1300" dirty="0"/>
          </a:p>
        </p:txBody>
      </p:sp>
      <p:sp>
        <p:nvSpPr>
          <p:cNvPr id="5" name="Text 3"/>
          <p:cNvSpPr/>
          <p:nvPr/>
        </p:nvSpPr>
        <p:spPr>
          <a:xfrm>
            <a:off x="274320" y="1170432"/>
            <a:ext cx="365760" cy="320040"/>
          </a:xfrm>
          <a:prstGeom prst="rect">
            <a:avLst/>
          </a:prstGeom>
          <a:noFill/>
          <a:ln/>
        </p:spPr>
        <p:txBody>
          <a:bodyPr wrap="square" lIns="0" tIns="0" rIns="0" bIns="0" rtlCol="0" anchor="ctr"/>
          <a:lstStyle/>
          <a:p>
            <a:pPr indent="0" marL="0">
              <a:buNone/>
            </a:pPr>
            <a:r>
              <a:rPr lang="en-US" sz="1800" b="1" dirty="0">
                <a:solidFill>
                  <a:srgbClr val="C00000"/>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658368" y="1197864"/>
            <a:ext cx="8229600" cy="274320"/>
          </a:xfrm>
          <a:prstGeom prst="rect">
            <a:avLst/>
          </a:prstGeom>
          <a:noFill/>
          <a:ln/>
        </p:spPr>
        <p:txBody>
          <a:bodyPr wrap="square" lIns="0" tIns="0" rIns="0" bIns="0" rtlCol="0" anchor="ctr"/>
          <a:lstStyle/>
          <a:p>
            <a:pPr indent="0" marL="0">
              <a:buNone/>
            </a:pPr>
            <a:r>
              <a:rPr lang="en-US" sz="1300" b="1" dirty="0">
                <a:solidFill>
                  <a:srgbClr val="C00000"/>
                </a:solidFill>
                <a:latin typeface="Calibri" pitchFamily="34" charset="0"/>
                <a:ea typeface="Calibri" pitchFamily="34" charset="-122"/>
                <a:cs typeface="Calibri" pitchFamily="34" charset="-120"/>
              </a:rPr>
              <a:t>The Three-Way Tradeoff</a:t>
            </a:r>
            <a:endParaRPr lang="en-US" sz="1300" dirty="0"/>
          </a:p>
        </p:txBody>
      </p:sp>
      <p:sp>
        <p:nvSpPr>
          <p:cNvPr id="7" name="Text 5"/>
          <p:cNvSpPr/>
          <p:nvPr/>
        </p:nvSpPr>
        <p:spPr>
          <a:xfrm>
            <a:off x="658368" y="1490472"/>
            <a:ext cx="8229600" cy="475488"/>
          </a:xfrm>
          <a:prstGeom prst="rect">
            <a:avLst/>
          </a:prstGeom>
          <a:noFill/>
          <a:ln/>
        </p:spPr>
        <p:txBody>
          <a:bodyPr wrap="square" lIns="0" tIns="0" rIns="0" bIns="0" rtlCol="0" anchor="ctr"/>
          <a:lstStyle/>
          <a:p>
            <a:pPr indent="0" marL="0">
              <a:buNone/>
            </a:pPr>
            <a:r>
              <a:rPr lang="en-US" sz="1150" dirty="0">
                <a:solidFill>
                  <a:srgbClr val="404040"/>
                </a:solidFill>
                <a:latin typeface="Calibri" pitchFamily="34" charset="0"/>
                <a:ea typeface="Calibri" pitchFamily="34" charset="-122"/>
                <a:cs typeface="Calibri" pitchFamily="34" charset="-120"/>
              </a:rPr>
              <a:t>Privacy vs Security vs Accuracy — if you improve one, the others get worse. No paper managed to solve all three at the same time. This is still the biggest unsolved problem.</a:t>
            </a:r>
            <a:endParaRPr lang="en-US" sz="1150" dirty="0"/>
          </a:p>
        </p:txBody>
      </p:sp>
      <p:sp>
        <p:nvSpPr>
          <p:cNvPr id="8" name="Shape 6"/>
          <p:cNvSpPr/>
          <p:nvPr/>
        </p:nvSpPr>
        <p:spPr>
          <a:xfrm>
            <a:off x="274320" y="2039112"/>
            <a:ext cx="8595360" cy="0"/>
          </a:xfrm>
          <a:prstGeom prst="line">
            <a:avLst/>
          </a:prstGeom>
          <a:noFill/>
          <a:ln w="9525">
            <a:solidFill>
              <a:srgbClr val="E0E0E0"/>
            </a:solidFill>
            <a:prstDash val="solid"/>
          </a:ln>
        </p:spPr>
      </p:sp>
      <p:sp>
        <p:nvSpPr>
          <p:cNvPr id="9" name="Text 7"/>
          <p:cNvSpPr/>
          <p:nvPr/>
        </p:nvSpPr>
        <p:spPr>
          <a:xfrm>
            <a:off x="274320" y="2112264"/>
            <a:ext cx="365760" cy="320040"/>
          </a:xfrm>
          <a:prstGeom prst="rect">
            <a:avLst/>
          </a:prstGeom>
          <a:noFill/>
          <a:ln/>
        </p:spPr>
        <p:txBody>
          <a:bodyPr wrap="square" lIns="0" tIns="0" rIns="0" bIns="0" rtlCol="0" anchor="ctr"/>
          <a:lstStyle/>
          <a:p>
            <a:pPr indent="0" marL="0">
              <a:buNone/>
            </a:pPr>
            <a:r>
              <a:rPr lang="en-US" sz="1800" b="1" dirty="0">
                <a:solidFill>
                  <a:srgbClr val="2E75B6"/>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658368" y="2139696"/>
            <a:ext cx="8229600" cy="274320"/>
          </a:xfrm>
          <a:prstGeom prst="rect">
            <a:avLst/>
          </a:prstGeom>
          <a:noFill/>
          <a:ln/>
        </p:spPr>
        <p:txBody>
          <a:bodyPr wrap="square" lIns="0" tIns="0" rIns="0" bIns="0" rtlCol="0" anchor="ctr"/>
          <a:lstStyle/>
          <a:p>
            <a:pPr indent="0" marL="0">
              <a:buNone/>
            </a:pPr>
            <a:r>
              <a:rPr lang="en-US" sz="1300" b="1" dirty="0">
                <a:solidFill>
                  <a:srgbClr val="2E75B6"/>
                </a:solidFill>
                <a:latin typeface="Calibri" pitchFamily="34" charset="0"/>
                <a:ea typeface="Calibri" pitchFamily="34" charset="-122"/>
                <a:cs typeface="Calibri" pitchFamily="34" charset="-120"/>
              </a:rPr>
              <a:t>Homomorphic Encryption is Too Slow</a:t>
            </a:r>
            <a:endParaRPr lang="en-US" sz="1300" dirty="0"/>
          </a:p>
        </p:txBody>
      </p:sp>
      <p:sp>
        <p:nvSpPr>
          <p:cNvPr id="11" name="Text 9"/>
          <p:cNvSpPr/>
          <p:nvPr/>
        </p:nvSpPr>
        <p:spPr>
          <a:xfrm>
            <a:off x="658368" y="2432304"/>
            <a:ext cx="8229600" cy="475488"/>
          </a:xfrm>
          <a:prstGeom prst="rect">
            <a:avLst/>
          </a:prstGeom>
          <a:noFill/>
          <a:ln/>
        </p:spPr>
        <p:txBody>
          <a:bodyPr wrap="square" lIns="0" tIns="0" rIns="0" bIns="0" rtlCol="0" anchor="ctr"/>
          <a:lstStyle/>
          <a:p>
            <a:pPr indent="0" marL="0">
              <a:buNone/>
            </a:pPr>
            <a:r>
              <a:rPr lang="en-US" sz="1150" dirty="0">
                <a:solidFill>
                  <a:srgbClr val="404040"/>
                </a:solidFill>
                <a:latin typeface="Calibri" pitchFamily="34" charset="0"/>
                <a:ea typeface="Calibri" pitchFamily="34" charset="-122"/>
                <a:cs typeface="Calibri" pitchFamily="34" charset="-120"/>
              </a:rPr>
              <a:t>HE is powerful but 100-1000x slower than normal. You cant use it in real systems that need to respond fast. Making it faster is one of the most important future research directions.</a:t>
            </a:r>
            <a:endParaRPr lang="en-US" sz="1150" dirty="0"/>
          </a:p>
        </p:txBody>
      </p:sp>
      <p:sp>
        <p:nvSpPr>
          <p:cNvPr id="12" name="Shape 10"/>
          <p:cNvSpPr/>
          <p:nvPr/>
        </p:nvSpPr>
        <p:spPr>
          <a:xfrm>
            <a:off x="274320" y="2980944"/>
            <a:ext cx="8595360" cy="0"/>
          </a:xfrm>
          <a:prstGeom prst="line">
            <a:avLst/>
          </a:prstGeom>
          <a:noFill/>
          <a:ln w="9525">
            <a:solidFill>
              <a:srgbClr val="E0E0E0"/>
            </a:solidFill>
            <a:prstDash val="solid"/>
          </a:ln>
        </p:spPr>
      </p:sp>
      <p:sp>
        <p:nvSpPr>
          <p:cNvPr id="13" name="Text 11"/>
          <p:cNvSpPr/>
          <p:nvPr/>
        </p:nvSpPr>
        <p:spPr>
          <a:xfrm>
            <a:off x="274320" y="3054096"/>
            <a:ext cx="365760" cy="320040"/>
          </a:xfrm>
          <a:prstGeom prst="rect">
            <a:avLst/>
          </a:prstGeom>
          <a:noFill/>
          <a:ln/>
        </p:spPr>
        <p:txBody>
          <a:bodyPr wrap="square" lIns="0" tIns="0" rIns="0" bIns="0"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658368" y="3081528"/>
            <a:ext cx="8229600" cy="274320"/>
          </a:xfrm>
          <a:prstGeom prst="rect">
            <a:avLst/>
          </a:prstGeom>
          <a:noFill/>
          <a:ln/>
        </p:spPr>
        <p:txBody>
          <a:bodyPr wrap="square" lIns="0" tIns="0" rIns="0" bIns="0"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Data is Very Different Between Clients</a:t>
            </a:r>
            <a:endParaRPr lang="en-US" sz="1300" dirty="0"/>
          </a:p>
        </p:txBody>
      </p:sp>
      <p:sp>
        <p:nvSpPr>
          <p:cNvPr id="15" name="Text 13"/>
          <p:cNvSpPr/>
          <p:nvPr/>
        </p:nvSpPr>
        <p:spPr>
          <a:xfrm>
            <a:off x="658368" y="3374136"/>
            <a:ext cx="8229600" cy="475488"/>
          </a:xfrm>
          <a:prstGeom prst="rect">
            <a:avLst/>
          </a:prstGeom>
          <a:noFill/>
          <a:ln/>
        </p:spPr>
        <p:txBody>
          <a:bodyPr wrap="square" lIns="0" tIns="0" rIns="0" bIns="0" rtlCol="0" anchor="ctr"/>
          <a:lstStyle/>
          <a:p>
            <a:pPr indent="0" marL="0">
              <a:buNone/>
            </a:pPr>
            <a:r>
              <a:rPr lang="en-US" sz="1150" dirty="0">
                <a:solidFill>
                  <a:srgbClr val="404040"/>
                </a:solidFill>
                <a:latin typeface="Calibri" pitchFamily="34" charset="0"/>
                <a:ea typeface="Calibri" pitchFamily="34" charset="-122"/>
                <a:cs typeface="Calibri" pitchFamily="34" charset="-120"/>
              </a:rPr>
              <a:t>Most papers assume all clients have similar data but in real life its very different. One hospital might have mostly old patients, another mostly young. This makes detecting attacks much harder.</a:t>
            </a:r>
            <a:endParaRPr lang="en-US" sz="1150" dirty="0"/>
          </a:p>
        </p:txBody>
      </p:sp>
      <p:sp>
        <p:nvSpPr>
          <p:cNvPr id="16" name="Shape 14"/>
          <p:cNvSpPr/>
          <p:nvPr/>
        </p:nvSpPr>
        <p:spPr>
          <a:xfrm>
            <a:off x="274320" y="3922776"/>
            <a:ext cx="8595360" cy="0"/>
          </a:xfrm>
          <a:prstGeom prst="line">
            <a:avLst/>
          </a:prstGeom>
          <a:noFill/>
          <a:ln w="9525">
            <a:solidFill>
              <a:srgbClr val="E0E0E0"/>
            </a:solidFill>
            <a:prstDash val="solid"/>
          </a:ln>
        </p:spPr>
      </p:sp>
      <p:sp>
        <p:nvSpPr>
          <p:cNvPr id="17" name="Text 15"/>
          <p:cNvSpPr/>
          <p:nvPr/>
        </p:nvSpPr>
        <p:spPr>
          <a:xfrm>
            <a:off x="274320" y="3995928"/>
            <a:ext cx="365760" cy="320040"/>
          </a:xfrm>
          <a:prstGeom prst="rect">
            <a:avLst/>
          </a:prstGeom>
          <a:noFill/>
          <a:ln/>
        </p:spPr>
        <p:txBody>
          <a:bodyPr wrap="square" lIns="0" tIns="0" rIns="0" bIns="0" rtlCol="0" anchor="ctr"/>
          <a:lstStyle/>
          <a:p>
            <a:pPr indent="0" marL="0">
              <a:buNone/>
            </a:pPr>
            <a:r>
              <a:rPr lang="en-US" sz="1800" b="1" dirty="0">
                <a:solidFill>
                  <a:srgbClr val="1A5276"/>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658368" y="4023360"/>
            <a:ext cx="8229600" cy="274320"/>
          </a:xfrm>
          <a:prstGeom prst="rect">
            <a:avLst/>
          </a:prstGeom>
          <a:noFill/>
          <a:ln/>
        </p:spPr>
        <p:txBody>
          <a:bodyPr wrap="square" lIns="0" tIns="0" rIns="0" bIns="0" rtlCol="0" anchor="ctr"/>
          <a:lstStyle/>
          <a:p>
            <a:pPr indent="0" marL="0">
              <a:buNone/>
            </a:pPr>
            <a:r>
              <a:rPr lang="en-US" sz="1300" b="1" dirty="0">
                <a:solidFill>
                  <a:srgbClr val="1A5276"/>
                </a:solidFill>
                <a:latin typeface="Calibri" pitchFamily="34" charset="0"/>
                <a:ea typeface="Calibri" pitchFamily="34" charset="-122"/>
                <a:cs typeface="Calibri" pitchFamily="34" charset="-120"/>
              </a:rPr>
              <a:t>No Standard Benchmark</a:t>
            </a:r>
            <a:endParaRPr lang="en-US" sz="1300" dirty="0"/>
          </a:p>
        </p:txBody>
      </p:sp>
      <p:sp>
        <p:nvSpPr>
          <p:cNvPr id="19" name="Text 17"/>
          <p:cNvSpPr/>
          <p:nvPr/>
        </p:nvSpPr>
        <p:spPr>
          <a:xfrm>
            <a:off x="658368" y="4315968"/>
            <a:ext cx="8229600" cy="475488"/>
          </a:xfrm>
          <a:prstGeom prst="rect">
            <a:avLst/>
          </a:prstGeom>
          <a:noFill/>
          <a:ln/>
        </p:spPr>
        <p:txBody>
          <a:bodyPr wrap="square" lIns="0" tIns="0" rIns="0" bIns="0" rtlCol="0" anchor="ctr"/>
          <a:lstStyle/>
          <a:p>
            <a:pPr indent="0" marL="0">
              <a:buNone/>
            </a:pPr>
            <a:r>
              <a:rPr lang="en-US" sz="1150" dirty="0">
                <a:solidFill>
                  <a:srgbClr val="404040"/>
                </a:solidFill>
                <a:latin typeface="Calibri" pitchFamily="34" charset="0"/>
                <a:ea typeface="Calibri" pitchFamily="34" charset="-122"/>
                <a:cs typeface="Calibri" pitchFamily="34" charset="-120"/>
              </a:rPr>
              <a:t>Every paper tests things differently so you cant really compare them. There needs to be one shared standard so researchers can know which solution is actually better.</a:t>
            </a:r>
            <a:endParaRPr lang="en-US" sz="1150" dirty="0"/>
          </a:p>
        </p:txBody>
      </p:sp>
      <p:sp>
        <p:nvSpPr>
          <p:cNvPr id="20" name="Shape 18"/>
          <p:cNvSpPr/>
          <p:nvPr/>
        </p:nvSpPr>
        <p:spPr>
          <a:xfrm>
            <a:off x="274320" y="4864608"/>
            <a:ext cx="8595360" cy="0"/>
          </a:xfrm>
          <a:prstGeom prst="line">
            <a:avLst/>
          </a:prstGeom>
          <a:noFill/>
          <a:ln w="9525">
            <a:solidFill>
              <a:srgbClr val="E0E0E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 Conclusion — Where the Story Is Right Now</a:t>
            </a:r>
            <a:endParaRPr lang="en-US" sz="2600" dirty="0"/>
          </a:p>
        </p:txBody>
      </p:sp>
      <p:sp>
        <p:nvSpPr>
          <p:cNvPr id="3" name="Shape 1"/>
          <p:cNvSpPr/>
          <p:nvPr/>
        </p:nvSpPr>
        <p:spPr>
          <a:xfrm>
            <a:off x="1371600" y="1078992"/>
            <a:ext cx="6400800" cy="0"/>
          </a:xfrm>
          <a:prstGeom prst="line">
            <a:avLst/>
          </a:prstGeom>
          <a:noFill/>
          <a:ln w="12700">
            <a:solidFill>
              <a:srgbClr val="CADCFC"/>
            </a:solidFill>
            <a:prstDash val="solid"/>
          </a:ln>
        </p:spPr>
      </p:sp>
      <p:sp>
        <p:nvSpPr>
          <p:cNvPr id="4" name="Text 2"/>
          <p:cNvSpPr/>
          <p:nvPr/>
        </p:nvSpPr>
        <p:spPr>
          <a:xfrm>
            <a:off x="731520" y="1188720"/>
            <a:ext cx="7772400" cy="365760"/>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FL started as a great idea — train AI without ever sharing private data</a:t>
            </a:r>
            <a:endParaRPr lang="en-US" sz="1300" dirty="0"/>
          </a:p>
        </p:txBody>
      </p:sp>
      <p:sp>
        <p:nvSpPr>
          <p:cNvPr id="5" name="Text 3"/>
          <p:cNvSpPr/>
          <p:nvPr/>
        </p:nvSpPr>
        <p:spPr>
          <a:xfrm>
            <a:off x="731520" y="1609344"/>
            <a:ext cx="7772400" cy="365760"/>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But researchers found the model updates are NOT as private as everyone thought</a:t>
            </a:r>
            <a:endParaRPr lang="en-US" sz="1300" dirty="0"/>
          </a:p>
        </p:txBody>
      </p:sp>
      <p:sp>
        <p:nvSpPr>
          <p:cNvPr id="6" name="Text 4"/>
          <p:cNvSpPr/>
          <p:nvPr/>
        </p:nvSpPr>
        <p:spPr>
          <a:xfrm>
            <a:off x="731520" y="2029968"/>
            <a:ext cx="7772400" cy="365760"/>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There are two types of attacks: ones that break the model, and ones that steal data</a:t>
            </a:r>
            <a:endParaRPr lang="en-US" sz="1300" dirty="0"/>
          </a:p>
        </p:txBody>
      </p:sp>
      <p:sp>
        <p:nvSpPr>
          <p:cNvPr id="7" name="Text 5"/>
          <p:cNvSpPr/>
          <p:nvPr/>
        </p:nvSpPr>
        <p:spPr>
          <a:xfrm>
            <a:off x="731520" y="2450592"/>
            <a:ext cx="7772400" cy="365760"/>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Researchers proposed defenses: DP, HE, SMPC, and Blockchain — but each has limits</a:t>
            </a:r>
            <a:endParaRPr lang="en-US" sz="1300" dirty="0"/>
          </a:p>
        </p:txBody>
      </p:sp>
      <p:sp>
        <p:nvSpPr>
          <p:cNvPr id="8" name="Text 6"/>
          <p:cNvSpPr/>
          <p:nvPr/>
        </p:nvSpPr>
        <p:spPr>
          <a:xfrm>
            <a:off x="731520" y="2871216"/>
            <a:ext cx="7772400" cy="365760"/>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The Privacy-Security Paradox is still not fully solved — encryption hides bad updates too</a:t>
            </a:r>
            <a:endParaRPr lang="en-US" sz="1300" dirty="0"/>
          </a:p>
        </p:txBody>
      </p:sp>
      <p:sp>
        <p:nvSpPr>
          <p:cNvPr id="9" name="Text 7"/>
          <p:cNvSpPr/>
          <p:nvPr/>
        </p:nvSpPr>
        <p:spPr>
          <a:xfrm>
            <a:off x="731520" y="3291840"/>
            <a:ext cx="7772400" cy="365760"/>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Future work needs: faster encryption, standard benchmarks, and handling diverse data</a:t>
            </a:r>
            <a:endParaRPr lang="en-US" sz="1300" dirty="0"/>
          </a:p>
        </p:txBody>
      </p:sp>
      <p:sp>
        <p:nvSpPr>
          <p:cNvPr id="10" name="Text 8"/>
          <p:cNvSpPr/>
          <p:nvPr/>
        </p:nvSpPr>
        <p:spPr>
          <a:xfrm>
            <a:off x="731520" y="3712464"/>
            <a:ext cx="7772400" cy="365760"/>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The story of FL security is still being written — alot of open problems remain</a:t>
            </a:r>
            <a:endParaRPr lang="en-US" sz="1300" dirty="0"/>
          </a:p>
        </p:txBody>
      </p:sp>
      <p:sp>
        <p:nvSpPr>
          <p:cNvPr id="11" name="Shape 9"/>
          <p:cNvSpPr/>
          <p:nvPr/>
        </p:nvSpPr>
        <p:spPr>
          <a:xfrm>
            <a:off x="457200" y="4617720"/>
            <a:ext cx="8229600" cy="0"/>
          </a:xfrm>
          <a:prstGeom prst="line">
            <a:avLst/>
          </a:prstGeom>
          <a:noFill/>
          <a:ln w="9525">
            <a:solidFill>
              <a:srgbClr val="CADCFC"/>
            </a:solidFill>
            <a:prstDash val="solid"/>
          </a:ln>
        </p:spPr>
      </p:sp>
      <p:sp>
        <p:nvSpPr>
          <p:cNvPr id="12" name="Text 10"/>
          <p:cNvSpPr/>
          <p:nvPr/>
        </p:nvSpPr>
        <p:spPr>
          <a:xfrm>
            <a:off x="274320" y="4690872"/>
            <a:ext cx="8595360" cy="32004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Cryptography and Information Security  |  An-Najah National University  |  2025-2026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2026-04-20T15:53:23Z</dcterms:created>
  <dcterms:modified xsi:type="dcterms:W3CDTF">2026-04-20T15:53:23Z</dcterms:modified>
</cp:coreProperties>
</file>